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X1+FF/O6f1bpNSsVRQMtIjCUJ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Motivation…</a:t>
            </a:r>
            <a:endParaRPr/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Operating systems most interesting piece of software in the system</a:t>
            </a:r>
            <a:endParaRPr/>
          </a:p>
          <a:p>
            <a:pPr indent="-114300" lvl="1" marL="685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Interface with both hardware and software</a:t>
            </a:r>
            <a:endParaRPr/>
          </a:p>
          <a:p>
            <a:pPr indent="-114300" lvl="1" marL="685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Need to have a good knowledge of computer organization</a:t>
            </a:r>
            <a:endParaRPr/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Unlike normal programs, time plays a crucial role</a:t>
            </a:r>
            <a:endParaRPr/>
          </a:p>
          <a:p>
            <a:pPr indent="-114300" lvl="1" marL="685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A program may behave differently when run multiple times.</a:t>
            </a:r>
            <a:endParaRPr/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Strange behavior of functions.</a:t>
            </a:r>
            <a:endParaRPr/>
          </a:p>
          <a:p>
            <a:pPr indent="-114300" lvl="1" marL="685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A function call may not ever return</a:t>
            </a:r>
            <a:endParaRPr/>
          </a:p>
          <a:p>
            <a:pPr indent="-114300" lvl="1" marL="685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Or may return to some other location</a:t>
            </a:r>
            <a:endParaRPr/>
          </a:p>
          <a:p>
            <a:pPr indent="-114300" lvl="1" marL="685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Need to understand from the middle of the function</a:t>
            </a:r>
            <a:endParaRPr/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All these reasons make the OS code not very intuitive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1" marL="6858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1" marL="6858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to expect from this course.</a:t>
            </a:r>
            <a:endParaRPr/>
          </a:p>
          <a:p>
            <a:pPr indent="-114300" lvl="1" marL="685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Good computer architecture background</a:t>
            </a:r>
            <a:endParaRPr/>
          </a:p>
          <a:p>
            <a:pPr indent="-114300" lvl="1" marL="685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A lot of playing around with pointers in C</a:t>
            </a:r>
            <a:endParaRPr/>
          </a:p>
          <a:p>
            <a:pPr indent="0" lvl="1" marL="6858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Eg. Take a mobile phone.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programmer must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Determine coordinates for display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transfer the string “Hello World” to video card memory along with specifics such as color, depth for every pixel, etc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Each video card needs to be programmed for modes, depth, refresh rates, etc.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programmer must keep therefore know which display and video card is being used.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Difficult and very tedious as it needs to be repeated for every program written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programmer must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Determine coordinates for display</a:t>
            </a:r>
            <a:endParaRPr/>
          </a:p>
          <a:p>
            <a:pPr indent="-114300" lvl="0" marL="2286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Transfer the string Hello World to Graphics card along with coordinates and attributes such as color, depth of every pixel etc.</a:t>
            </a:r>
            <a:endParaRPr/>
          </a:p>
          <a:p>
            <a:pPr indent="-114300" lvl="0" marL="2286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Each video card needs to be programmed differently.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Version 6. Unix standard developed in the 70s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Smaller code, well documented, easier to understand</a:t>
            </a:r>
            <a:endParaRPr/>
          </a:p>
        </p:txBody>
      </p:sp>
      <p:sp>
        <p:nvSpPr>
          <p:cNvPr id="268" name="Google Shape;268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9" name="Google Shape;4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55" name="Google Shape;55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6" name="Google Shape;56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71" name="Google Shape;71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72" name="Google Shape;72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73" name="Google Shape;73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74" name="Google Shape;74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80" name="Google Shape;80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87" name="Google Shape;87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5" name="Google Shape;15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475412"/>
            <a:ext cx="647700" cy="3825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Operating Systems</a:t>
            </a:r>
            <a:b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(An Introduction)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2133600" y="1981200"/>
            <a:ext cx="2590800" cy="38100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The Layers in Systems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2362200" y="4343400"/>
            <a:ext cx="2133600" cy="4572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VLSI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2362200" y="3657600"/>
            <a:ext cx="2133600" cy="4572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Organization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2362200" y="5029200"/>
            <a:ext cx="2133600" cy="4572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Transistors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2362200" y="2971800"/>
            <a:ext cx="2133600" cy="457200"/>
          </a:xfrm>
          <a:prstGeom prst="rect">
            <a:avLst/>
          </a:prstGeom>
          <a:solidFill>
            <a:srgbClr val="FFFF00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Systems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2362200" y="2286000"/>
            <a:ext cx="2133600" cy="4572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4" name="Google Shape;114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OS usage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Hardware Abstraction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turns hardware into something that applications can use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Resource Management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manage system’s resources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1" name="Google Shape;121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 Simple Program</a:t>
            </a:r>
            <a:endParaRPr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output of the following program?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is the string displayed on the screen?</a:t>
            </a:r>
            <a:endParaRPr/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438400"/>
            <a:ext cx="4191000" cy="171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447800" y="1905000"/>
            <a:ext cx="990600" cy="866775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D1D1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Displaying on the Screen</a:t>
            </a:r>
            <a:endParaRPr/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457200" y="4800600"/>
            <a:ext cx="8229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complex and tedious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dependent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Without an OS, all programs need to take care of every nitty gritty detail</a:t>
            </a:r>
            <a:endParaRPr/>
          </a:p>
        </p:txBody>
      </p:sp>
      <p:pic>
        <p:nvPicPr>
          <p:cNvPr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1524000"/>
            <a:ext cx="1027112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2040000">
            <a:off x="3886200" y="2286000"/>
            <a:ext cx="25717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2819400"/>
            <a:ext cx="1371600" cy="1023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PNG%20%282%29" id="136" name="Google Shape;13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1295400"/>
            <a:ext cx="12954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 rot="5400000">
            <a:off x="3519487" y="2119312"/>
            <a:ext cx="1143000" cy="866775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D1D1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791200" y="1524000"/>
            <a:ext cx="1143000" cy="866775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D1D1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76200" y="3770312"/>
            <a:ext cx="15827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Memory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(RAM)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2209800" y="2971800"/>
            <a:ext cx="1212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4114800" y="4052887"/>
            <a:ext cx="16573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Graphics Card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7054850" y="2376487"/>
            <a:ext cx="946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 rot="-2160000">
            <a:off x="0" y="28765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“Hello World”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4195762" y="1524000"/>
            <a:ext cx="163195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“Hello World” +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coordinates, color,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depth, etc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2040000">
            <a:off x="4735512" y="2436812"/>
            <a:ext cx="25717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PNG%20%282%29" id="151" name="Google Shape;1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1371600"/>
            <a:ext cx="12954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6096000" y="1905000"/>
            <a:ext cx="838200" cy="990600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D1D1F0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Operating Systems </a:t>
            </a:r>
            <a:br>
              <a:rPr b="0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provide </a:t>
            </a: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/>
          </a:p>
        </p:txBody>
      </p:sp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457200" y="4572000"/>
            <a:ext cx="82296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program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apps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more nitty gritty details for programmers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Reusable functionality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Apps can reuse the OS functionality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Portable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interfaces are consistent. The app does not change when hardware changes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990600" y="1614487"/>
            <a:ext cx="590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838200" y="3429000"/>
            <a:ext cx="2743200" cy="990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System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581400" y="3429000"/>
            <a:ext cx="12192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1D1F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 rot="5400000">
            <a:off x="1600200" y="2743200"/>
            <a:ext cx="10668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1D1F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1981200"/>
            <a:ext cx="2790825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60" name="Google Shape;160;p6"/>
          <p:cNvSpPr txBox="1"/>
          <p:nvPr/>
        </p:nvSpPr>
        <p:spPr>
          <a:xfrm>
            <a:off x="0" y="2514600"/>
            <a:ext cx="2076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call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(write to STDOUT)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3581400" y="3733800"/>
            <a:ext cx="8826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driver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7" name="Google Shape;167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OS as a </a:t>
            </a:r>
            <a:r>
              <a:rPr b="1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Resource Manager</a:t>
            </a:r>
            <a:endParaRPr/>
          </a:p>
        </p:txBody>
      </p:sp>
      <p:sp>
        <p:nvSpPr>
          <p:cNvPr id="168" name="Google Shape;168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apps but limited hardware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762000" y="4038600"/>
            <a:ext cx="7696200" cy="106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Systems</a:t>
            </a:r>
            <a:endParaRPr/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0" y="5181600"/>
            <a:ext cx="1079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200" y="2589212"/>
            <a:ext cx="1828800" cy="1166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2817812"/>
            <a:ext cx="1265237" cy="992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2200" y="3046412"/>
            <a:ext cx="1524000" cy="627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5800" y="2513012"/>
            <a:ext cx="1600200" cy="111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 txBox="1"/>
          <p:nvPr/>
        </p:nvSpPr>
        <p:spPr>
          <a:xfrm rot="-5400000">
            <a:off x="150018" y="3217068"/>
            <a:ext cx="704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Apps</a:t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5486400" y="6019800"/>
            <a:ext cx="30829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sharing of hardware!!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2" name="Google Shape;182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OS as Resource Manager</a:t>
            </a:r>
            <a:endParaRPr/>
          </a:p>
        </p:txBody>
      </p:sp>
      <p:sp>
        <p:nvSpPr>
          <p:cNvPr id="183" name="Google Shape;183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must manage CPU, memory, network, secondary storage (hard disk), etc…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Resource management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multiple apps to share resources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protects apps from each other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Improves performance by efficient utilization of resources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76200" y="3733800"/>
            <a:ext cx="8991600" cy="1447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pre</a:t>
            </a: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0" name="Google Shape;190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Sharing the CPU</a:t>
            </a:r>
            <a:endParaRPr/>
          </a:p>
        </p:txBody>
      </p:sp>
      <p:sp>
        <p:nvSpPr>
          <p:cNvPr id="191" name="Google Shape;191;p9"/>
          <p:cNvSpPr txBox="1"/>
          <p:nvPr>
            <p:ph idx="1" type="body"/>
          </p:nvPr>
        </p:nvSpPr>
        <p:spPr>
          <a:xfrm>
            <a:off x="457200" y="5456237"/>
            <a:ext cx="8229600" cy="94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7200" y="2819400"/>
            <a:ext cx="87312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 txBox="1"/>
          <p:nvPr/>
        </p:nvSpPr>
        <p:spPr>
          <a:xfrm>
            <a:off x="1066800" y="1600200"/>
            <a:ext cx="1295400" cy="838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App1</a:t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2819400" y="1600200"/>
            <a:ext cx="1295400" cy="83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App2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4648200" y="1600200"/>
            <a:ext cx="1295400" cy="8382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App3</a:t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6324600" y="1600200"/>
            <a:ext cx="1295400" cy="838200"/>
          </a:xfrm>
          <a:prstGeom prst="rect">
            <a:avLst/>
          </a:prstGeom>
          <a:solidFill>
            <a:srgbClr val="ECB2E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App4</a:t>
            </a:r>
            <a:endParaRPr/>
          </a:p>
        </p:txBody>
      </p:sp>
      <p:cxnSp>
        <p:nvCxnSpPr>
          <p:cNvPr id="197" name="Google Shape;197;p9"/>
          <p:cNvCxnSpPr/>
          <p:nvPr/>
        </p:nvCxnSpPr>
        <p:spPr>
          <a:xfrm>
            <a:off x="1600200" y="2438400"/>
            <a:ext cx="24384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98" name="Google Shape;198;p9"/>
          <p:cNvCxnSpPr/>
          <p:nvPr/>
        </p:nvCxnSpPr>
        <p:spPr>
          <a:xfrm>
            <a:off x="3505200" y="2438400"/>
            <a:ext cx="7620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99" name="Google Shape;199;p9"/>
          <p:cNvCxnSpPr/>
          <p:nvPr/>
        </p:nvCxnSpPr>
        <p:spPr>
          <a:xfrm flipH="1">
            <a:off x="4876800" y="24384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0" name="Google Shape;200;p9"/>
          <p:cNvCxnSpPr/>
          <p:nvPr/>
        </p:nvCxnSpPr>
        <p:spPr>
          <a:xfrm flipH="1">
            <a:off x="5257800" y="2438400"/>
            <a:ext cx="1752600" cy="9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01" name="Google Shape;201;p9"/>
          <p:cNvSpPr txBox="1"/>
          <p:nvPr/>
        </p:nvSpPr>
        <p:spPr>
          <a:xfrm>
            <a:off x="609600" y="4191000"/>
            <a:ext cx="25146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App1</a:t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3124200" y="4191000"/>
            <a:ext cx="12954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App2</a:t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4419600" y="4191000"/>
            <a:ext cx="1905000" cy="3048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App3</a:t>
            </a:r>
            <a:endParaRPr/>
          </a:p>
        </p:txBody>
      </p:sp>
      <p:sp>
        <p:nvSpPr>
          <p:cNvPr id="204" name="Google Shape;204;p9"/>
          <p:cNvSpPr txBox="1"/>
          <p:nvPr/>
        </p:nvSpPr>
        <p:spPr>
          <a:xfrm>
            <a:off x="6324600" y="4191000"/>
            <a:ext cx="2514600" cy="304800"/>
          </a:xfrm>
          <a:prstGeom prst="rect">
            <a:avLst/>
          </a:prstGeom>
          <a:solidFill>
            <a:srgbClr val="ECB2E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App4</a:t>
            </a:r>
            <a:endParaRPr/>
          </a:p>
        </p:txBody>
      </p:sp>
      <p:cxnSp>
        <p:nvCxnSpPr>
          <p:cNvPr id="205" name="Google Shape;205;p9"/>
          <p:cNvCxnSpPr/>
          <p:nvPr/>
        </p:nvCxnSpPr>
        <p:spPr>
          <a:xfrm>
            <a:off x="1905000" y="5029200"/>
            <a:ext cx="609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06" name="Google Shape;206;p9"/>
          <p:cNvSpPr txBox="1"/>
          <p:nvPr/>
        </p:nvSpPr>
        <p:spPr>
          <a:xfrm>
            <a:off x="4479925" y="4684712"/>
            <a:ext cx="615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0" y="3810000"/>
            <a:ext cx="2254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uses the CPU?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3" name="Google Shape;213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Sharing Memory</a:t>
            </a:r>
            <a:endParaRPr/>
          </a:p>
        </p:txBody>
      </p:sp>
      <p:sp>
        <p:nvSpPr>
          <p:cNvPr id="214" name="Google Shape;214;p10"/>
          <p:cNvSpPr txBox="1"/>
          <p:nvPr>
            <p:ph idx="1" type="body"/>
          </p:nvPr>
        </p:nvSpPr>
        <p:spPr>
          <a:xfrm>
            <a:off x="457200" y="5456237"/>
            <a:ext cx="8229600" cy="94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7200" y="2819400"/>
            <a:ext cx="87312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1066800" y="1600200"/>
            <a:ext cx="1295400" cy="838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App1</a:t>
            </a:r>
            <a:endParaRPr/>
          </a:p>
        </p:txBody>
      </p:sp>
      <p:sp>
        <p:nvSpPr>
          <p:cNvPr id="217" name="Google Shape;217;p10"/>
          <p:cNvSpPr txBox="1"/>
          <p:nvPr/>
        </p:nvSpPr>
        <p:spPr>
          <a:xfrm>
            <a:off x="2819400" y="1600200"/>
            <a:ext cx="1295400" cy="83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App2</a:t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4648200" y="1600200"/>
            <a:ext cx="1295400" cy="8382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App3</a:t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6324600" y="1600200"/>
            <a:ext cx="1295400" cy="838200"/>
          </a:xfrm>
          <a:prstGeom prst="rect">
            <a:avLst/>
          </a:prstGeom>
          <a:solidFill>
            <a:srgbClr val="ECB2E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App4</a:t>
            </a:r>
            <a:endParaRPr/>
          </a:p>
        </p:txBody>
      </p:sp>
      <p:cxnSp>
        <p:nvCxnSpPr>
          <p:cNvPr id="220" name="Google Shape;220;p10"/>
          <p:cNvCxnSpPr/>
          <p:nvPr/>
        </p:nvCxnSpPr>
        <p:spPr>
          <a:xfrm>
            <a:off x="1600200" y="2438400"/>
            <a:ext cx="24384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21" name="Google Shape;221;p10"/>
          <p:cNvCxnSpPr/>
          <p:nvPr/>
        </p:nvCxnSpPr>
        <p:spPr>
          <a:xfrm>
            <a:off x="3505200" y="2438400"/>
            <a:ext cx="7620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22" name="Google Shape;222;p10"/>
          <p:cNvCxnSpPr/>
          <p:nvPr/>
        </p:nvCxnSpPr>
        <p:spPr>
          <a:xfrm flipH="1">
            <a:off x="4876800" y="24384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23" name="Google Shape;223;p10"/>
          <p:cNvCxnSpPr/>
          <p:nvPr/>
        </p:nvCxnSpPr>
        <p:spPr>
          <a:xfrm flipH="1">
            <a:off x="5257800" y="2438400"/>
            <a:ext cx="1752600" cy="9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24" name="Google Shape;224;p10"/>
          <p:cNvSpPr txBox="1"/>
          <p:nvPr/>
        </p:nvSpPr>
        <p:spPr>
          <a:xfrm>
            <a:off x="4191000" y="4572000"/>
            <a:ext cx="3519487" cy="369887"/>
          </a:xfrm>
          <a:prstGeom prst="rect">
            <a:avLst/>
          </a:prstGeom>
          <a:solidFill>
            <a:srgbClr val="D1D1F0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App uses which memory?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2971800" y="6096000"/>
            <a:ext cx="914400" cy="381000"/>
          </a:xfrm>
          <a:prstGeom prst="rect">
            <a:avLst/>
          </a:prstGeom>
          <a:solidFill>
            <a:srgbClr val="ECB2E8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2971800" y="5791200"/>
            <a:ext cx="914400" cy="3048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2971800" y="5486400"/>
            <a:ext cx="914400" cy="304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2971800" y="5105400"/>
            <a:ext cx="914400" cy="3810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2971800" y="4800600"/>
            <a:ext cx="914400" cy="304800"/>
          </a:xfrm>
          <a:prstGeom prst="rect">
            <a:avLst/>
          </a:prstGeom>
          <a:solidFill>
            <a:srgbClr val="92D050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2971800" y="4495800"/>
            <a:ext cx="914400" cy="3048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2971800" y="4114800"/>
            <a:ext cx="914400" cy="381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2971800" y="3810000"/>
            <a:ext cx="914400" cy="304800"/>
          </a:xfrm>
          <a:prstGeom prst="rect">
            <a:avLst/>
          </a:prstGeom>
          <a:solidFill>
            <a:srgbClr val="ECB2E8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2971800" y="3505200"/>
            <a:ext cx="914400" cy="304800"/>
          </a:xfrm>
          <a:prstGeom prst="rect">
            <a:avLst/>
          </a:prstGeom>
          <a:solidFill>
            <a:srgbClr val="92D050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2133600" y="3200400"/>
            <a:ext cx="1582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Memory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1"/>
          <p:cNvPicPr preferRelativeResize="0"/>
          <p:nvPr/>
        </p:nvPicPr>
        <p:blipFill rotWithShape="1">
          <a:blip r:embed="rId3">
            <a:alphaModFix/>
          </a:blip>
          <a:srcRect b="15231" l="0" r="0" t="15231"/>
          <a:stretch/>
        </p:blipFill>
        <p:spPr>
          <a:xfrm>
            <a:off x="1219200" y="2209800"/>
            <a:ext cx="1555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1"/>
          <p:cNvPicPr preferRelativeResize="0"/>
          <p:nvPr/>
        </p:nvPicPr>
        <p:blipFill rotWithShape="1">
          <a:blip r:embed="rId3">
            <a:alphaModFix/>
          </a:blip>
          <a:srcRect b="15231" l="0" r="0" t="15231"/>
          <a:stretch/>
        </p:blipFill>
        <p:spPr>
          <a:xfrm>
            <a:off x="6626225" y="2133600"/>
            <a:ext cx="1555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1"/>
          <p:cNvPicPr preferRelativeResize="0"/>
          <p:nvPr/>
        </p:nvPicPr>
        <p:blipFill rotWithShape="1">
          <a:blip r:embed="rId3">
            <a:alphaModFix/>
          </a:blip>
          <a:srcRect b="15231" l="0" r="0" t="15231"/>
          <a:stretch/>
        </p:blipFill>
        <p:spPr>
          <a:xfrm>
            <a:off x="8285162" y="2133600"/>
            <a:ext cx="1555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1"/>
          <p:cNvPicPr preferRelativeResize="0"/>
          <p:nvPr/>
        </p:nvPicPr>
        <p:blipFill rotWithShape="1">
          <a:blip r:embed="rId3">
            <a:alphaModFix/>
          </a:blip>
          <a:srcRect b="15231" l="0" r="0" t="15231"/>
          <a:stretch/>
        </p:blipFill>
        <p:spPr>
          <a:xfrm>
            <a:off x="4873625" y="2133600"/>
            <a:ext cx="1555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1"/>
          <p:cNvPicPr preferRelativeResize="0"/>
          <p:nvPr/>
        </p:nvPicPr>
        <p:blipFill rotWithShape="1">
          <a:blip r:embed="rId3">
            <a:alphaModFix/>
          </a:blip>
          <a:srcRect b="15231" l="0" r="0" t="15231"/>
          <a:stretch/>
        </p:blipFill>
        <p:spPr>
          <a:xfrm>
            <a:off x="3121025" y="2133600"/>
            <a:ext cx="1555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Share but Isolate</a:t>
            </a:r>
            <a:endParaRPr/>
          </a:p>
        </p:txBody>
      </p:sp>
      <p:sp>
        <p:nvSpPr>
          <p:cNvPr id="245" name="Google Shape;245;p11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46" name="Google Shape;246;p11"/>
          <p:cNvPicPr preferRelativeResize="0"/>
          <p:nvPr/>
        </p:nvPicPr>
        <p:blipFill rotWithShape="1">
          <a:blip r:embed="rId3">
            <a:alphaModFix/>
          </a:blip>
          <a:srcRect b="15231" l="0" r="0" t="15231"/>
          <a:stretch/>
        </p:blipFill>
        <p:spPr>
          <a:xfrm>
            <a:off x="1219200" y="1981200"/>
            <a:ext cx="7239000" cy="3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1"/>
          <p:cNvPicPr preferRelativeResize="0"/>
          <p:nvPr/>
        </p:nvPicPr>
        <p:blipFill rotWithShape="1">
          <a:blip r:embed="rId3">
            <a:alphaModFix/>
          </a:blip>
          <a:srcRect b="15231" l="0" r="0" t="15231"/>
          <a:stretch/>
        </p:blipFill>
        <p:spPr>
          <a:xfrm>
            <a:off x="1219200" y="3962400"/>
            <a:ext cx="7239000" cy="32861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 txBox="1"/>
          <p:nvPr/>
        </p:nvSpPr>
        <p:spPr>
          <a:xfrm>
            <a:off x="1600200" y="2667000"/>
            <a:ext cx="1295400" cy="838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App1</a:t>
            </a: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3429000" y="2590800"/>
            <a:ext cx="1295400" cy="83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App2</a:t>
            </a:r>
            <a:endParaRPr/>
          </a:p>
        </p:txBody>
      </p:sp>
      <p:sp>
        <p:nvSpPr>
          <p:cNvPr id="250" name="Google Shape;250;p11"/>
          <p:cNvSpPr txBox="1"/>
          <p:nvPr/>
        </p:nvSpPr>
        <p:spPr>
          <a:xfrm>
            <a:off x="5181600" y="2590800"/>
            <a:ext cx="1295400" cy="8382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App3</a:t>
            </a:r>
            <a:endParaRPr/>
          </a:p>
        </p:txBody>
      </p:sp>
      <p:sp>
        <p:nvSpPr>
          <p:cNvPr id="251" name="Google Shape;251;p11"/>
          <p:cNvSpPr txBox="1"/>
          <p:nvPr/>
        </p:nvSpPr>
        <p:spPr>
          <a:xfrm>
            <a:off x="6858000" y="2590800"/>
            <a:ext cx="1295400" cy="838200"/>
          </a:xfrm>
          <a:prstGeom prst="rect">
            <a:avLst/>
          </a:prstGeom>
          <a:solidFill>
            <a:srgbClr val="ECB2E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App4</a:t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1066800" y="5943600"/>
            <a:ext cx="66516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 resources but keep applications isolated from each other</a:t>
            </a:r>
            <a:endParaRPr/>
          </a:p>
        </p:txBody>
      </p:sp>
      <p:pic>
        <p:nvPicPr>
          <p:cNvPr id="253" name="Google Shape;25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4572000"/>
            <a:ext cx="873125" cy="129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11"/>
          <p:cNvCxnSpPr/>
          <p:nvPr/>
        </p:nvCxnSpPr>
        <p:spPr>
          <a:xfrm>
            <a:off x="2362200" y="3505200"/>
            <a:ext cx="2209800" cy="137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55" name="Google Shape;255;p11"/>
          <p:cNvCxnSpPr/>
          <p:nvPr/>
        </p:nvCxnSpPr>
        <p:spPr>
          <a:xfrm>
            <a:off x="4114800" y="3429000"/>
            <a:ext cx="609600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56" name="Google Shape;256;p11"/>
          <p:cNvCxnSpPr/>
          <p:nvPr/>
        </p:nvCxnSpPr>
        <p:spPr>
          <a:xfrm flipH="1">
            <a:off x="5105400" y="3429000"/>
            <a:ext cx="6858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57" name="Google Shape;257;p11"/>
          <p:cNvCxnSpPr/>
          <p:nvPr/>
        </p:nvCxnSpPr>
        <p:spPr>
          <a:xfrm flipH="1">
            <a:off x="5334000" y="3429000"/>
            <a:ext cx="2286000" cy="15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Operating Systems Types</a:t>
            </a:r>
            <a:endParaRPr/>
          </a:p>
        </p:txBody>
      </p:sp>
      <p:sp>
        <p:nvSpPr>
          <p:cNvPr id="263" name="Google Shape;263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Specific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Embedded OS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eg. Contiki OS, for extremely memory constraint environments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OS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Android, iOS, Ubuntu Touch, Windows Touch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RTOS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QNX, VxWorks, RTLinux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 Environments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SeLinux, SeL4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Servers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Redhat, Ubuntu, Windows Server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Desktops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 OS, Windows, Ubuntu</a:t>
            </a:r>
            <a:endParaRPr/>
          </a:p>
          <a:p>
            <a:pPr indent="-2286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xv6</a:t>
            </a:r>
            <a:endParaRPr/>
          </a:p>
        </p:txBody>
      </p:sp>
      <p:sp>
        <p:nvSpPr>
          <p:cNvPr id="271" name="Google Shape;271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Designed for pedagogical reasons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Unix like (version 6)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Looks very similar to modern Linux operating systems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Theory classes : xv6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 documented, easy to understand</a:t>
            </a:r>
            <a:endParaRPr/>
          </a:p>
        </p:txBody>
      </p:sp>
      <p:sp>
        <p:nvSpPr>
          <p:cNvPr id="272" name="Google Shape;272;p13"/>
          <p:cNvSpPr txBox="1"/>
          <p:nvPr/>
        </p:nvSpPr>
        <p:spPr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3" name="Google Shape;273;p13"/>
          <p:cNvSpPr txBox="1"/>
          <p:nvPr/>
        </p:nvSpPr>
        <p:spPr>
          <a:xfrm>
            <a:off x="838200" y="6488112"/>
            <a:ext cx="7391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https://pdos.csail.mit.edu/6.828/2012/xv6.html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2015-04-01T04:37:51Z</dcterms:created>
  <dc:creator>Chester Rebeiro</dc:creator>
</cp:coreProperties>
</file>