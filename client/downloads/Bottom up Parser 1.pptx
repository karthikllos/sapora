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84" r:id="rId2"/>
    <p:sldId id="335" r:id="rId3"/>
    <p:sldId id="334" r:id="rId4"/>
    <p:sldId id="285" r:id="rId5"/>
    <p:sldId id="286" r:id="rId6"/>
    <p:sldId id="287" r:id="rId7"/>
    <p:sldId id="289" r:id="rId8"/>
    <p:sldId id="288" r:id="rId9"/>
    <p:sldId id="330" r:id="rId10"/>
    <p:sldId id="331" r:id="rId11"/>
    <p:sldId id="333" r:id="rId12"/>
    <p:sldId id="332" r:id="rId13"/>
    <p:sldId id="290" r:id="rId14"/>
    <p:sldId id="291" r:id="rId15"/>
    <p:sldId id="292" r:id="rId16"/>
    <p:sldId id="293" r:id="rId17"/>
    <p:sldId id="294" r:id="rId18"/>
    <p:sldId id="336" r:id="rId19"/>
    <p:sldId id="295" r:id="rId20"/>
    <p:sldId id="296" r:id="rId21"/>
    <p:sldId id="297" r:id="rId22"/>
    <p:sldId id="298" r:id="rId23"/>
    <p:sldId id="299" r:id="rId24"/>
    <p:sldId id="300" r:id="rId25"/>
    <p:sldId id="340" r:id="rId26"/>
    <p:sldId id="341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42" r:id="rId42"/>
    <p:sldId id="338" r:id="rId43"/>
    <p:sldId id="33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2 – Syntax Analysis</a:t>
            </a:r>
          </a:p>
          <a:p>
            <a:r>
              <a:rPr lang="en-IN" sz="4400" dirty="0">
                <a:solidFill>
                  <a:srgbClr val="C00000"/>
                </a:solidFill>
              </a:rPr>
              <a:t>Bottom Up Parsing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B9A7-FD1A-A497-5C8C-E7070F6A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AD05-A213-0866-7B64-2D74BB3E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46625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000099"/>
                </a:solidFill>
              </a:rPr>
              <a:t>The process of “reducing" a string w to the start symbol of the grammar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At </a:t>
            </a:r>
            <a:r>
              <a:rPr lang="en-US" dirty="0">
                <a:solidFill>
                  <a:srgbClr val="000099"/>
                </a:solidFill>
              </a:rPr>
              <a:t>each reduction step</a:t>
            </a:r>
            <a:r>
              <a:rPr lang="en-US" dirty="0"/>
              <a:t>, a </a:t>
            </a:r>
            <a:r>
              <a:rPr lang="en-US" dirty="0">
                <a:solidFill>
                  <a:srgbClr val="FF0000"/>
                </a:solidFill>
              </a:rPr>
              <a:t>specific substring matching the body of a production is replaced by the nonterminal at the LHS/Head of that production.</a:t>
            </a:r>
          </a:p>
          <a:p>
            <a:pPr>
              <a:lnSpc>
                <a:spcPct val="10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rgbClr val="000099"/>
                </a:solidFill>
              </a:rPr>
              <a:t>key decisions </a:t>
            </a:r>
            <a:r>
              <a:rPr lang="en-US" dirty="0"/>
              <a:t>during bottom-up parsing are about </a:t>
            </a:r>
            <a:r>
              <a:rPr lang="en-US" dirty="0">
                <a:solidFill>
                  <a:srgbClr val="000099"/>
                </a:solidFill>
              </a:rPr>
              <a:t>when to reduce </a:t>
            </a:r>
            <a:r>
              <a:rPr lang="en-US" dirty="0"/>
              <a:t>and </a:t>
            </a:r>
            <a:r>
              <a:rPr lang="en-US" dirty="0">
                <a:solidFill>
                  <a:srgbClr val="000099"/>
                </a:solidFill>
              </a:rPr>
              <a:t>about what production to apply</a:t>
            </a:r>
            <a:r>
              <a:rPr lang="en-US" dirty="0"/>
              <a:t>, as the parse proceeds.</a:t>
            </a:r>
          </a:p>
          <a:p>
            <a:pPr>
              <a:lnSpc>
                <a:spcPct val="100000"/>
              </a:lnSpc>
            </a:pPr>
            <a:r>
              <a:rPr lang="en-US" dirty="0"/>
              <a:t>The reductions will be discussed in terms of the sequence of strings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/>
              <a:t>id * id; 	F * id; 	T * id; 	T * F;	 	T; 	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0524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BFEE-0286-9044-99B2-3FC78944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Bottom-Up Parsing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36FEA-4FAB-8762-3385-7FB1011A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19" y="1353345"/>
            <a:ext cx="10515600" cy="4351338"/>
          </a:xfrm>
        </p:spPr>
        <p:txBody>
          <a:bodyPr/>
          <a:lstStyle/>
          <a:p>
            <a:r>
              <a:rPr lang="en-US" dirty="0"/>
              <a:t>A bottom-up parsing corresponds to the </a:t>
            </a:r>
            <a:r>
              <a:rPr lang="en-US" dirty="0">
                <a:solidFill>
                  <a:srgbClr val="FF0000"/>
                </a:solidFill>
              </a:rPr>
              <a:t>construction of a parse tree </a:t>
            </a:r>
            <a:r>
              <a:rPr lang="en-US" dirty="0">
                <a:solidFill>
                  <a:srgbClr val="000099"/>
                </a:solidFill>
              </a:rPr>
              <a:t>for an input string </a:t>
            </a:r>
            <a:r>
              <a:rPr lang="en-US" dirty="0">
                <a:solidFill>
                  <a:srgbClr val="FF0000"/>
                </a:solidFill>
              </a:rPr>
              <a:t>beginning at the leaves </a:t>
            </a:r>
            <a:r>
              <a:rPr lang="en-US" dirty="0">
                <a:solidFill>
                  <a:srgbClr val="000099"/>
                </a:solidFill>
              </a:rPr>
              <a:t>(the bottom) and </a:t>
            </a:r>
            <a:r>
              <a:rPr lang="en-US" dirty="0">
                <a:solidFill>
                  <a:srgbClr val="FF0000"/>
                </a:solidFill>
              </a:rPr>
              <a:t>working up towards the root </a:t>
            </a:r>
            <a:r>
              <a:rPr lang="en-US" dirty="0">
                <a:solidFill>
                  <a:srgbClr val="000099"/>
                </a:solidFill>
              </a:rPr>
              <a:t>(the top).</a:t>
            </a:r>
          </a:p>
          <a:p>
            <a:endParaRPr lang="en-US" dirty="0">
              <a:solidFill>
                <a:srgbClr val="000099"/>
              </a:solidFill>
            </a:endParaRPr>
          </a:p>
          <a:p>
            <a:r>
              <a:rPr lang="en-US" dirty="0"/>
              <a:t>Ex: A bottom-up parse for </a:t>
            </a:r>
            <a:r>
              <a:rPr lang="en-US" b="1" dirty="0"/>
              <a:t>id * id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1D9BD-C0B5-EB9B-D9DE-AB0EAE598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72" y="3671888"/>
            <a:ext cx="10787573" cy="3186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F52554-26A1-C7D0-4444-6CA5641E32E4}"/>
              </a:ext>
            </a:extLst>
          </p:cNvPr>
          <p:cNvSpPr txBox="1"/>
          <p:nvPr/>
        </p:nvSpPr>
        <p:spPr>
          <a:xfrm>
            <a:off x="416719" y="5100143"/>
            <a:ext cx="22266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Grammar:</a:t>
            </a:r>
          </a:p>
          <a:p>
            <a:pPr indent="271463"/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E--&gt;</a:t>
            </a:r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E + T | T</a:t>
            </a:r>
          </a:p>
          <a:p>
            <a:pPr indent="271463"/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T--&gt;T * F | F</a:t>
            </a:r>
          </a:p>
          <a:p>
            <a:pPr indent="271463"/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F--&gt;(E) | id</a:t>
            </a:r>
            <a:endParaRPr lang="en-IN" sz="2000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02AD040-1DD5-426A-883F-B657B72587AF}"/>
              </a:ext>
            </a:extLst>
          </p:cNvPr>
          <p:cNvSpPr/>
          <p:nvPr/>
        </p:nvSpPr>
        <p:spPr>
          <a:xfrm>
            <a:off x="2286000" y="4479131"/>
            <a:ext cx="357378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4060A57-9F78-25BA-976D-47ACF7BDF0AA}"/>
              </a:ext>
            </a:extLst>
          </p:cNvPr>
          <p:cNvSpPr/>
          <p:nvPr/>
        </p:nvSpPr>
        <p:spPr>
          <a:xfrm>
            <a:off x="4162806" y="4512468"/>
            <a:ext cx="357378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19398F3-EDD6-E316-F88C-7143F23D6DBE}"/>
              </a:ext>
            </a:extLst>
          </p:cNvPr>
          <p:cNvSpPr/>
          <p:nvPr/>
        </p:nvSpPr>
        <p:spPr>
          <a:xfrm>
            <a:off x="6004988" y="4641054"/>
            <a:ext cx="357378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EADE1D3-66B0-7267-E330-699A81A6F6D1}"/>
              </a:ext>
            </a:extLst>
          </p:cNvPr>
          <p:cNvSpPr/>
          <p:nvPr/>
        </p:nvSpPr>
        <p:spPr>
          <a:xfrm>
            <a:off x="7986450" y="4679155"/>
            <a:ext cx="357378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2F05FE4-1A0E-F6B0-E5A4-8D68B4CD6D40}"/>
              </a:ext>
            </a:extLst>
          </p:cNvPr>
          <p:cNvSpPr/>
          <p:nvPr/>
        </p:nvSpPr>
        <p:spPr>
          <a:xfrm>
            <a:off x="9967912" y="4691059"/>
            <a:ext cx="357378" cy="257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78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0D729739-BCDC-7A25-90F9-8DD9E8FAD69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249F88-836B-CD12-B28A-7410A7C2A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891" y="938156"/>
            <a:ext cx="1012620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06901-B3D2-27D2-B1BA-83C44DD80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084" y="2032718"/>
            <a:ext cx="2134879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71B27-62B9-B125-9E47-8432709E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096" y="2035753"/>
            <a:ext cx="3543677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EBDFE-3EDF-AFC8-079D-6B78DF3C0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84" y="2754855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9E8B0-AE71-8F55-A20E-69E99A78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86" y="3411606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1C5EC-2BA5-D711-F041-87E77F8F0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869" y="3720852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3CAA2E-0187-C250-3EDB-3AFD897E8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511" y="2747510"/>
            <a:ext cx="2338434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358248-F113-E82A-81A7-F2EA95EF8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754" y="5573180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52816E-F2DD-F8D0-2E4D-281FEEFB3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8827" y="4898691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C87318-D80F-AC98-1E65-DC9798D11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2498" y="4246142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91444726-E232-7EBE-8DA5-77A83106ADCD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80266" y="1366781"/>
            <a:ext cx="2230935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10D1EE9C-A88F-B05F-66FF-F1F03230DCFC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311201" y="1366781"/>
            <a:ext cx="2197070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DB2A4A54-8474-94EA-65E8-967E92D4BD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68431" y="2469288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29D3A14E-5E65-3479-65FE-B93D0BC427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62809" y="298241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8A59A0C-0395-D655-FA6D-B24F36278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007" y="5261609"/>
            <a:ext cx="1291206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274BF6-9CF1-D586-148B-8C3E7AA97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006" y="4580287"/>
            <a:ext cx="129120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0D79A-9244-8718-37FF-70639E267594}"/>
              </a:ext>
            </a:extLst>
          </p:cNvPr>
          <p:cNvSpPr/>
          <p:nvPr/>
        </p:nvSpPr>
        <p:spPr>
          <a:xfrm>
            <a:off x="2062794" y="195955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B2DF5D-B69B-FBB7-ECB4-DF3BD6C24ED4}"/>
              </a:ext>
            </a:extLst>
          </p:cNvPr>
          <p:cNvSpPr/>
          <p:nvPr/>
        </p:nvSpPr>
        <p:spPr>
          <a:xfrm>
            <a:off x="6490799" y="195955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FD27DB78-06D4-FDF7-9DFD-655FABEE0F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53451" y="391293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8C7D88FA-E98D-031D-9068-75BD297AFB2E}"/>
              </a:ext>
            </a:extLst>
          </p:cNvPr>
          <p:cNvCxnSpPr>
            <a:cxnSpLocks noChangeShapeType="1"/>
            <a:endCxn id="18" idx="1"/>
          </p:cNvCxnSpPr>
          <p:nvPr/>
        </p:nvCxnSpPr>
        <p:spPr bwMode="auto">
          <a:xfrm flipV="1">
            <a:off x="3688192" y="4794699"/>
            <a:ext cx="933814" cy="1510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EA95232E-B3F1-3310-FD1D-6191C07DE2B1}"/>
              </a:ext>
            </a:extLst>
          </p:cNvPr>
          <p:cNvCxnSpPr>
            <a:cxnSpLocks noChangeShapeType="1"/>
            <a:endCxn id="17" idx="1"/>
          </p:cNvCxnSpPr>
          <p:nvPr/>
        </p:nvCxnSpPr>
        <p:spPr bwMode="auto">
          <a:xfrm>
            <a:off x="3673637" y="5588848"/>
            <a:ext cx="948370" cy="11994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3087B9-79D1-622B-2BB9-0CDE02319396}"/>
              </a:ext>
            </a:extLst>
          </p:cNvPr>
          <p:cNvCxnSpPr/>
          <p:nvPr/>
        </p:nvCxnSpPr>
        <p:spPr>
          <a:xfrm flipH="1" flipV="1">
            <a:off x="3688192" y="4416338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38D0A6ED-D177-A43A-2656-C888D97B64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2491" y="2509315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40FDA1F5-D1B8-2823-4965-9825FE6121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26869" y="302244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40050DB8-AD5B-93F8-2407-836C3CAE01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17511" y="395295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42161D4D-EAF5-CB00-8320-8F11276F9B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69498" y="441633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7F044D4A-AD40-C778-5B6A-C9E22BE8BB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86333" y="509471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25DE2E-504A-81BB-2688-B262157D76B9}"/>
              </a:ext>
            </a:extLst>
          </p:cNvPr>
          <p:cNvCxnSpPr/>
          <p:nvPr/>
        </p:nvCxnSpPr>
        <p:spPr>
          <a:xfrm flipV="1">
            <a:off x="8167488" y="4119885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F9E88130-18CE-5D20-BB94-F33618471E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48137" y="578521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4385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F512-33C4-E9C4-240B-ECD68B8CEF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Handle &amp; Handle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7E7A-F32C-179F-B8F8-A40534827590}"/>
              </a:ext>
            </a:extLst>
          </p:cNvPr>
          <p:cNvSpPr txBox="1">
            <a:spLocks/>
          </p:cNvSpPr>
          <p:nvPr/>
        </p:nvSpPr>
        <p:spPr>
          <a:xfrm>
            <a:off x="131180" y="711202"/>
            <a:ext cx="11929641" cy="5742808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b="1" dirty="0"/>
              <a:t>Handle</a:t>
            </a:r>
            <a:r>
              <a:rPr lang="en-US" sz="2700" dirty="0"/>
              <a:t>: A “handle” of a string is a substring of the string that matches the right side of a production, and whose reduction to the non-terminal of the production is one step along the </a:t>
            </a:r>
            <a:r>
              <a:rPr lang="en-US" sz="2700" dirty="0">
                <a:solidFill>
                  <a:srgbClr val="C00000"/>
                </a:solidFill>
              </a:rPr>
              <a:t>reverse of rightmost derivation</a:t>
            </a:r>
            <a:r>
              <a:rPr lang="en-US" sz="2700" dirty="0"/>
              <a:t>.</a:t>
            </a:r>
          </a:p>
          <a:p>
            <a:r>
              <a:rPr lang="en-US" sz="2700" b="1" dirty="0"/>
              <a:t>Handle pruning: </a:t>
            </a:r>
            <a:r>
              <a:rPr lang="en-US" sz="2700" dirty="0"/>
              <a:t>The process of discovering a handle and </a:t>
            </a:r>
            <a:r>
              <a:rPr lang="en-US" sz="2700" dirty="0">
                <a:solidFill>
                  <a:srgbClr val="C00000"/>
                </a:solidFill>
              </a:rPr>
              <a:t>reducing it to appropriate left hand side non-terminal </a:t>
            </a:r>
            <a:r>
              <a:rPr lang="en-US" sz="2700" dirty="0"/>
              <a:t>is known as handle pruning.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B1F8FF-06AA-C544-4F4E-16AB7FDDAE0B}"/>
              </a:ext>
            </a:extLst>
          </p:cNvPr>
          <p:cNvSpPr/>
          <p:nvPr/>
        </p:nvSpPr>
        <p:spPr>
          <a:xfrm>
            <a:off x="624628" y="3079480"/>
            <a:ext cx="1143000" cy="534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E47A1"/>
                </a:solidFill>
              </a:rPr>
              <a:t>E</a:t>
            </a:r>
            <a:r>
              <a:rPr lang="en-US" sz="2400" dirty="0">
                <a:solidFill>
                  <a:srgbClr val="0E47A1"/>
                </a:solidFill>
                <a:sym typeface="Wingdings" panose="05000000000000000000" pitchFamily="2" charset="2"/>
              </a:rPr>
              <a:t>E+E</a:t>
            </a:r>
          </a:p>
          <a:p>
            <a:r>
              <a:rPr lang="en-US" sz="2400" dirty="0">
                <a:solidFill>
                  <a:srgbClr val="0E47A1"/>
                </a:solidFill>
                <a:sym typeface="Wingdings" panose="05000000000000000000" pitchFamily="2" charset="2"/>
              </a:rPr>
              <a:t>EE*E</a:t>
            </a:r>
          </a:p>
          <a:p>
            <a:r>
              <a:rPr lang="en-US" sz="2400" dirty="0" err="1">
                <a:solidFill>
                  <a:srgbClr val="0E47A1"/>
                </a:solidFill>
                <a:sym typeface="Wingdings" panose="05000000000000000000" pitchFamily="2" charset="2"/>
              </a:rPr>
              <a:t>Eid</a:t>
            </a:r>
            <a:endParaRPr lang="en-US" sz="2400" dirty="0">
              <a:solidFill>
                <a:srgbClr val="0E47A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FEC2C-C3BB-3143-568F-E233A8515722}"/>
              </a:ext>
            </a:extLst>
          </p:cNvPr>
          <p:cNvSpPr/>
          <p:nvPr/>
        </p:nvSpPr>
        <p:spPr>
          <a:xfrm>
            <a:off x="2057400" y="3060410"/>
            <a:ext cx="2743200" cy="534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0E47A1"/>
                </a:solidFill>
                <a:sym typeface="Wingdings" panose="05000000000000000000" pitchFamily="2" charset="2"/>
              </a:rPr>
              <a:t>String: id1+id2*id3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5A5631-0ACE-4601-A070-DE8E1D548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928274"/>
              </p:ext>
            </p:extLst>
          </p:nvPr>
        </p:nvGraphicFramePr>
        <p:xfrm>
          <a:off x="3398236" y="3856862"/>
          <a:ext cx="6096001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Right sentential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form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Handle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Production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F8663F-4C73-11DE-3B06-7CA9C6CC0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99764"/>
              </p:ext>
            </p:extLst>
          </p:nvPr>
        </p:nvGraphicFramePr>
        <p:xfrm>
          <a:off x="3398236" y="422770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id1+id2*id3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A9A657-EB63-E75C-3877-C7F76F808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154236"/>
              </p:ext>
            </p:extLst>
          </p:nvPr>
        </p:nvGraphicFramePr>
        <p:xfrm>
          <a:off x="3398236" y="4598542"/>
          <a:ext cx="6096001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177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E+id2*id3</a:t>
                      </a:r>
                      <a:endParaRPr lang="en-US" sz="1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68FE1F-54D5-A15E-DAC4-18E6C24B0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14097"/>
              </p:ext>
            </p:extLst>
          </p:nvPr>
        </p:nvGraphicFramePr>
        <p:xfrm>
          <a:off x="3398236" y="4968750"/>
          <a:ext cx="6096001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271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E+E*id3</a:t>
                      </a:r>
                      <a:endParaRPr lang="en-US" sz="1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945A0A-1AE4-7466-78EA-7193A9876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137004"/>
              </p:ext>
            </p:extLst>
          </p:nvPr>
        </p:nvGraphicFramePr>
        <p:xfrm>
          <a:off x="3398236" y="5339590"/>
          <a:ext cx="6096001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tx1"/>
                          </a:solidFill>
                          <a:latin typeface="+mj-lt"/>
                        </a:rPr>
                        <a:t>E+E*E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E*E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E*E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99F3163-4E76-3E2C-D18B-6F26D3D48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1044"/>
              </p:ext>
            </p:extLst>
          </p:nvPr>
        </p:nvGraphicFramePr>
        <p:xfrm>
          <a:off x="3398236" y="570629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E+E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E+E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E+E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9FB67F-D1BE-BA0F-BF54-EE71CF074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17020"/>
              </p:ext>
            </p:extLst>
          </p:nvPr>
        </p:nvGraphicFramePr>
        <p:xfrm>
          <a:off x="3398236" y="6083169"/>
          <a:ext cx="6096001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7F58DD2-82A0-C89C-6456-492CB749E6C7}"/>
              </a:ext>
            </a:extLst>
          </p:cNvPr>
          <p:cNvSpPr/>
          <p:nvPr/>
        </p:nvSpPr>
        <p:spPr>
          <a:xfrm>
            <a:off x="5884954" y="427954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64E6B4-E54D-A344-D68E-53A9D138AC4F}"/>
              </a:ext>
            </a:extLst>
          </p:cNvPr>
          <p:cNvSpPr/>
          <p:nvPr/>
        </p:nvSpPr>
        <p:spPr>
          <a:xfrm>
            <a:off x="7755978" y="43059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3923AA-C8D5-B61E-8C6B-E7E2427B8BF7}"/>
              </a:ext>
            </a:extLst>
          </p:cNvPr>
          <p:cNvSpPr/>
          <p:nvPr/>
        </p:nvSpPr>
        <p:spPr>
          <a:xfrm>
            <a:off x="6073346" y="465349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665FA-C26E-AFDD-9732-0840BFCE6AF2}"/>
              </a:ext>
            </a:extLst>
          </p:cNvPr>
          <p:cNvSpPr/>
          <p:nvPr/>
        </p:nvSpPr>
        <p:spPr>
          <a:xfrm>
            <a:off x="3925462" y="465936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7358DE-EDF7-CCDE-8FB0-8D2413F4829B}"/>
              </a:ext>
            </a:extLst>
          </p:cNvPr>
          <p:cNvSpPr/>
          <p:nvPr/>
        </p:nvSpPr>
        <p:spPr>
          <a:xfrm>
            <a:off x="7949778" y="468732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3E029F-4952-2149-7273-C6A8CC099918}"/>
              </a:ext>
            </a:extLst>
          </p:cNvPr>
          <p:cNvSpPr/>
          <p:nvPr/>
        </p:nvSpPr>
        <p:spPr>
          <a:xfrm>
            <a:off x="6040002" y="502020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4C169-C8E6-C399-2B2C-4EF3D06A6A98}"/>
              </a:ext>
            </a:extLst>
          </p:cNvPr>
          <p:cNvSpPr/>
          <p:nvPr/>
        </p:nvSpPr>
        <p:spPr>
          <a:xfrm>
            <a:off x="3892118" y="502608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180C39-1120-FEB5-0D8D-BE3D1FE57F8D}"/>
              </a:ext>
            </a:extLst>
          </p:cNvPr>
          <p:cNvSpPr/>
          <p:nvPr/>
        </p:nvSpPr>
        <p:spPr>
          <a:xfrm>
            <a:off x="7916434" y="50377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6C9D00-F240-1AB6-3AFB-574DFF1E222A}"/>
              </a:ext>
            </a:extLst>
          </p:cNvPr>
          <p:cNvSpPr/>
          <p:nvPr/>
        </p:nvSpPr>
        <p:spPr>
          <a:xfrm>
            <a:off x="5992371" y="5386924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5ADA46-52C4-B267-965D-69CCC821563C}"/>
              </a:ext>
            </a:extLst>
          </p:cNvPr>
          <p:cNvSpPr/>
          <p:nvPr/>
        </p:nvSpPr>
        <p:spPr>
          <a:xfrm>
            <a:off x="3844487" y="5392798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218D74-2065-916D-43C9-BA92E13E1C3C}"/>
              </a:ext>
            </a:extLst>
          </p:cNvPr>
          <p:cNvSpPr/>
          <p:nvPr/>
        </p:nvSpPr>
        <p:spPr>
          <a:xfrm>
            <a:off x="7868803" y="540443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0838C7-0528-C3E7-28B2-B8DC35AD6B66}"/>
              </a:ext>
            </a:extLst>
          </p:cNvPr>
          <p:cNvSpPr/>
          <p:nvPr/>
        </p:nvSpPr>
        <p:spPr>
          <a:xfrm>
            <a:off x="6020946" y="5758399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465AE5-F335-0F08-EFF1-4CD94250E71D}"/>
              </a:ext>
            </a:extLst>
          </p:cNvPr>
          <p:cNvSpPr/>
          <p:nvPr/>
        </p:nvSpPr>
        <p:spPr>
          <a:xfrm>
            <a:off x="3873062" y="5764273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74DD9D-37D3-0D60-1B00-9F38D1E7BFAD}"/>
              </a:ext>
            </a:extLst>
          </p:cNvPr>
          <p:cNvSpPr/>
          <p:nvPr/>
        </p:nvSpPr>
        <p:spPr>
          <a:xfrm>
            <a:off x="7897378" y="577590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AB814-70D9-1759-24BE-631E821369F4}"/>
              </a:ext>
            </a:extLst>
          </p:cNvPr>
          <p:cNvSpPr/>
          <p:nvPr/>
        </p:nvSpPr>
        <p:spPr>
          <a:xfrm>
            <a:off x="3796854" y="615956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52060-01A5-B0F2-B440-3EE5A2DF6B83}"/>
              </a:ext>
            </a:extLst>
          </p:cNvPr>
          <p:cNvSpPr/>
          <p:nvPr/>
        </p:nvSpPr>
        <p:spPr>
          <a:xfrm>
            <a:off x="624628" y="4054572"/>
            <a:ext cx="3196270" cy="2298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C00000"/>
                </a:solidFill>
              </a:rPr>
              <a:t>Rightmost Derivation</a:t>
            </a:r>
          </a:p>
          <a:p>
            <a:r>
              <a:rPr lang="en-US" sz="2400">
                <a:solidFill>
                  <a:schemeClr val="tx1"/>
                </a:solidFill>
              </a:rPr>
              <a:t>E</a:t>
            </a:r>
          </a:p>
          <a:p>
            <a:r>
              <a:rPr lang="en-US" sz="2400">
                <a:solidFill>
                  <a:schemeClr val="tx1"/>
                </a:solidFill>
                <a:sym typeface="Wingdings" panose="05000000000000000000" pitchFamily="2" charset="2"/>
              </a:rPr>
              <a:t>E+E</a:t>
            </a:r>
          </a:p>
          <a:p>
            <a:r>
              <a:rPr lang="en-US" sz="2400">
                <a:solidFill>
                  <a:schemeClr val="tx1"/>
                </a:solidFill>
                <a:sym typeface="Wingdings" panose="05000000000000000000" pitchFamily="2" charset="2"/>
              </a:rPr>
              <a:t>E+E*E</a:t>
            </a:r>
          </a:p>
          <a:p>
            <a:r>
              <a:rPr lang="en-US" sz="2400">
                <a:solidFill>
                  <a:schemeClr val="tx1"/>
                </a:solidFill>
                <a:sym typeface="Wingdings" panose="05000000000000000000" pitchFamily="2" charset="2"/>
              </a:rPr>
              <a:t>E+E*id3</a:t>
            </a:r>
          </a:p>
          <a:p>
            <a:r>
              <a:rPr lang="en-US" sz="2400">
                <a:solidFill>
                  <a:schemeClr val="tx1"/>
                </a:solidFill>
              </a:rPr>
              <a:t>E+id2*id3</a:t>
            </a:r>
          </a:p>
          <a:p>
            <a:r>
              <a:rPr lang="en-US" sz="2400">
                <a:solidFill>
                  <a:schemeClr val="tx1"/>
                </a:solidFill>
              </a:rPr>
              <a:t>id1+id2*id3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187A90-1A9B-9275-7D93-2A9A67995280}"/>
              </a:ext>
            </a:extLst>
          </p:cNvPr>
          <p:cNvCxnSpPr/>
          <p:nvPr/>
        </p:nvCxnSpPr>
        <p:spPr>
          <a:xfrm flipH="1" flipV="1">
            <a:off x="1100391" y="4413122"/>
            <a:ext cx="1432772" cy="1869993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7499A6-7226-0F15-916C-D181F99E1DEE}"/>
              </a:ext>
            </a:extLst>
          </p:cNvPr>
          <p:cNvCxnSpPr/>
          <p:nvPr/>
        </p:nvCxnSpPr>
        <p:spPr>
          <a:xfrm>
            <a:off x="1026651" y="4979050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26F4830-3570-C115-6C9E-7EDE9F65082C}"/>
              </a:ext>
            </a:extLst>
          </p:cNvPr>
          <p:cNvCxnSpPr/>
          <p:nvPr/>
        </p:nvCxnSpPr>
        <p:spPr>
          <a:xfrm>
            <a:off x="1313963" y="5372427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10E22C-EDA8-2123-9D4C-09E22D0EB7E9}"/>
              </a:ext>
            </a:extLst>
          </p:cNvPr>
          <p:cNvCxnSpPr/>
          <p:nvPr/>
        </p:nvCxnSpPr>
        <p:spPr>
          <a:xfrm>
            <a:off x="1031709" y="5743902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A40ADCE-28B6-E0E1-4793-E56B2B031FCF}"/>
              </a:ext>
            </a:extLst>
          </p:cNvPr>
          <p:cNvCxnSpPr/>
          <p:nvPr/>
        </p:nvCxnSpPr>
        <p:spPr>
          <a:xfrm>
            <a:off x="720492" y="6106634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94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F887-5223-E976-19F0-9250906462D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Shift reduce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32694-7267-5711-EFBB-D94A9C35AAB4}"/>
              </a:ext>
            </a:extLst>
          </p:cNvPr>
          <p:cNvSpPr txBox="1">
            <a:spLocks/>
          </p:cNvSpPr>
          <p:nvPr/>
        </p:nvSpPr>
        <p:spPr>
          <a:xfrm>
            <a:off x="131179" y="711201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dirty="0"/>
              <a:t>The shift reduce parser performs following basic operations: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99"/>
                </a:solidFill>
              </a:rPr>
              <a:t>Shift</a:t>
            </a:r>
            <a:r>
              <a:rPr lang="en-US" dirty="0"/>
              <a:t>: Moving of the symbols from </a:t>
            </a:r>
            <a:r>
              <a:rPr lang="en-US" dirty="0">
                <a:solidFill>
                  <a:srgbClr val="C00000"/>
                </a:solidFill>
              </a:rPr>
              <a:t>input buffer onto the stack</a:t>
            </a:r>
            <a:r>
              <a:rPr lang="en-US" dirty="0"/>
              <a:t>, this action is called shift.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99"/>
                </a:solidFill>
              </a:rPr>
              <a:t>Reduce</a:t>
            </a:r>
            <a:r>
              <a:rPr lang="en-US" dirty="0"/>
              <a:t>: If handle appears on the top of the stack then </a:t>
            </a:r>
            <a:r>
              <a:rPr lang="en-US" dirty="0">
                <a:solidFill>
                  <a:srgbClr val="C00000"/>
                </a:solidFill>
              </a:rPr>
              <a:t>reduction of it by appropriate rule/production</a:t>
            </a:r>
            <a:r>
              <a:rPr lang="en-US" dirty="0"/>
              <a:t> is done. This action is called reduce action.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99"/>
                </a:solidFill>
              </a:rPr>
              <a:t>Accept</a:t>
            </a:r>
            <a:r>
              <a:rPr lang="en-US" dirty="0"/>
              <a:t>: If </a:t>
            </a:r>
            <a:r>
              <a:rPr lang="en-US" dirty="0">
                <a:solidFill>
                  <a:srgbClr val="C00000"/>
                </a:solidFill>
              </a:rPr>
              <a:t>stack contains start symbol only and input buffer is empty </a:t>
            </a:r>
            <a:r>
              <a:rPr lang="en-US" dirty="0"/>
              <a:t>at the same time then that action is called </a:t>
            </a:r>
            <a:r>
              <a:rPr lang="en-US" dirty="0">
                <a:solidFill>
                  <a:srgbClr val="006600"/>
                </a:solidFill>
              </a:rPr>
              <a:t>accept action</a:t>
            </a:r>
            <a:r>
              <a:rPr lang="en-US" dirty="0"/>
              <a:t>.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0099"/>
                </a:solidFill>
              </a:rPr>
              <a:t>Error</a:t>
            </a:r>
            <a:r>
              <a:rPr lang="en-US" dirty="0"/>
              <a:t>: A situation in which parser </a:t>
            </a:r>
            <a:r>
              <a:rPr lang="en-US" dirty="0">
                <a:solidFill>
                  <a:srgbClr val="C00000"/>
                </a:solidFill>
              </a:rPr>
              <a:t>cannot either shift or reduce </a:t>
            </a:r>
            <a:r>
              <a:rPr lang="en-US" dirty="0"/>
              <a:t>the symbols, it cannot even perform accept action then it is called </a:t>
            </a:r>
            <a:r>
              <a:rPr lang="en-US" dirty="0">
                <a:solidFill>
                  <a:srgbClr val="FF0000"/>
                </a:solidFill>
              </a:rPr>
              <a:t>error action.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87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28FB-D97C-24A9-8724-30C9D2BA288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Viable Prefix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02B36-5915-3CB7-41A9-7F5576E9DCE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set of prefixes </a:t>
            </a:r>
            <a:r>
              <a:rPr lang="en-US" dirty="0"/>
              <a:t>of right sentential forms that </a:t>
            </a:r>
            <a:r>
              <a:rPr lang="en-US" dirty="0">
                <a:solidFill>
                  <a:srgbClr val="C00000"/>
                </a:solidFill>
              </a:rPr>
              <a:t>can appear on the stack</a:t>
            </a:r>
            <a:r>
              <a:rPr lang="en-US" dirty="0"/>
              <a:t> of a shift-reduce parser are called viable</a:t>
            </a:r>
            <a:r>
              <a:rPr lang="en-US" i="1" dirty="0"/>
              <a:t> </a:t>
            </a:r>
            <a:r>
              <a:rPr lang="en-US" dirty="0"/>
              <a:t>prefixes.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61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5F66-6AF6-369E-E428-EA4658CA315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Shift reduce parser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7FFF04-777A-3328-ABA4-B69E2A2FE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739697"/>
              </p:ext>
            </p:extLst>
          </p:nvPr>
        </p:nvGraphicFramePr>
        <p:xfrm>
          <a:off x="2657480" y="93006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Stack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Input Buffer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AF396F-3724-C7F6-1575-F20DC8669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988693"/>
              </p:ext>
            </p:extLst>
          </p:nvPr>
        </p:nvGraphicFramePr>
        <p:xfrm>
          <a:off x="2657480" y="130090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Shift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363B8C-3B3A-DA28-9F32-F1732A700C8C}"/>
              </a:ext>
            </a:extLst>
          </p:cNvPr>
          <p:cNvSpPr/>
          <p:nvPr/>
        </p:nvSpPr>
        <p:spPr>
          <a:xfrm>
            <a:off x="5167312" y="1361143"/>
            <a:ext cx="1143000" cy="255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D7615F-5542-1BBA-1BCE-0401BB75D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43263"/>
              </p:ext>
            </p:extLst>
          </p:nvPr>
        </p:nvGraphicFramePr>
        <p:xfrm>
          <a:off x="2657480" y="167174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$id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Reduce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id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510810-313D-EC2E-A58B-4DDD60A96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574930"/>
              </p:ext>
            </p:extLst>
          </p:nvPr>
        </p:nvGraphicFramePr>
        <p:xfrm>
          <a:off x="2657480" y="204195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$F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Reduce 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198259-680B-BBD7-021C-47B4D4CAD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360906"/>
              </p:ext>
            </p:extLst>
          </p:nvPr>
        </p:nvGraphicFramePr>
        <p:xfrm>
          <a:off x="2657480" y="241279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$T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Reduce 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B2E87D-6E89-76A6-F504-D574533A5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912065"/>
              </p:ext>
            </p:extLst>
          </p:nvPr>
        </p:nvGraphicFramePr>
        <p:xfrm>
          <a:off x="2657480" y="277949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Shift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52435A-90EC-740F-8215-076A2878A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322899"/>
              </p:ext>
            </p:extLst>
          </p:nvPr>
        </p:nvGraphicFramePr>
        <p:xfrm>
          <a:off x="2657480" y="3156369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Shift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C49450-7CC6-22CC-896B-7E10F72D6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4810"/>
              </p:ext>
            </p:extLst>
          </p:nvPr>
        </p:nvGraphicFramePr>
        <p:xfrm>
          <a:off x="2657480" y="3527209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$E+id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Reduce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i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5757FC-4DC1-132A-BB25-07FCAB205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77040"/>
              </p:ext>
            </p:extLst>
          </p:nvPr>
        </p:nvGraphicFramePr>
        <p:xfrm>
          <a:off x="2662242" y="3898049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$E+F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Reduce 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5FB3893-7EC9-2B21-22DE-343ED9505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778670"/>
              </p:ext>
            </p:extLst>
          </p:nvPr>
        </p:nvGraphicFramePr>
        <p:xfrm>
          <a:off x="2667004" y="427492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$E+T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Shift 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2DB772A-1921-360B-8F4F-047A52E42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54401"/>
              </p:ext>
            </p:extLst>
          </p:nvPr>
        </p:nvGraphicFramePr>
        <p:xfrm>
          <a:off x="2667004" y="464162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$E+T*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Shift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320997-D86E-ED84-BB6E-349AA0AC8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830221"/>
              </p:ext>
            </p:extLst>
          </p:nvPr>
        </p:nvGraphicFramePr>
        <p:xfrm>
          <a:off x="2667004" y="5004855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$E+T*id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Reduce </a:t>
                      </a: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</a:t>
                      </a: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id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1C60AAF-5D96-37FB-35D2-A7B9617F9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88467"/>
              </p:ext>
            </p:extLst>
          </p:nvPr>
        </p:nvGraphicFramePr>
        <p:xfrm>
          <a:off x="2667004" y="537283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$E+T*F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Reduce 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T*F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 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774B426-0996-C4AC-966A-61CA79A92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99767"/>
              </p:ext>
            </p:extLst>
          </p:nvPr>
        </p:nvGraphicFramePr>
        <p:xfrm>
          <a:off x="2667004" y="574225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$E+T</a:t>
                      </a:r>
                      <a:endParaRPr lang="en-US" sz="1800" b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Reduce E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E+T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40F083A-76AA-E75E-3B25-ED809F1B4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092729"/>
              </p:ext>
            </p:extLst>
          </p:nvPr>
        </p:nvGraphicFramePr>
        <p:xfrm>
          <a:off x="2667004" y="6124356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$E</a:t>
                      </a:r>
                      <a:endParaRPr lang="en-US" sz="1800" b="0">
                        <a:solidFill>
                          <a:srgbClr val="C0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baseline="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Accept </a:t>
                      </a:r>
                      <a:endParaRPr lang="en-US" sz="1800" b="0" dirty="0">
                        <a:solidFill>
                          <a:srgbClr val="C0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E82BE8DE-A154-C75C-A2BE-6A084016EB09}"/>
              </a:ext>
            </a:extLst>
          </p:cNvPr>
          <p:cNvSpPr/>
          <p:nvPr/>
        </p:nvSpPr>
        <p:spPr>
          <a:xfrm>
            <a:off x="3124200" y="1356746"/>
            <a:ext cx="1143000" cy="255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179A47-7266-3944-CFBC-36AB9C998E3D}"/>
              </a:ext>
            </a:extLst>
          </p:cNvPr>
          <p:cNvSpPr/>
          <p:nvPr/>
        </p:nvSpPr>
        <p:spPr>
          <a:xfrm>
            <a:off x="7210424" y="1366872"/>
            <a:ext cx="1143000" cy="255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D62F02-8EEC-F39D-51AD-0F4AB9ABBE2A}"/>
              </a:ext>
            </a:extLst>
          </p:cNvPr>
          <p:cNvSpPr/>
          <p:nvPr/>
        </p:nvSpPr>
        <p:spPr>
          <a:xfrm>
            <a:off x="3174570" y="1341172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F6BBA4-88EA-D865-CF44-6F1EEC8831BD}"/>
              </a:ext>
            </a:extLst>
          </p:cNvPr>
          <p:cNvSpPr/>
          <p:nvPr/>
        </p:nvSpPr>
        <p:spPr>
          <a:xfrm>
            <a:off x="5076828" y="133987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5EA905-CB67-A4F7-90BA-4305F0FC2524}"/>
              </a:ext>
            </a:extLst>
          </p:cNvPr>
          <p:cNvSpPr/>
          <p:nvPr/>
        </p:nvSpPr>
        <p:spPr>
          <a:xfrm>
            <a:off x="7124708" y="1362805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879E8D-B6FA-2085-921F-F7D79A962E58}"/>
              </a:ext>
            </a:extLst>
          </p:cNvPr>
          <p:cNvSpPr/>
          <p:nvPr/>
        </p:nvSpPr>
        <p:spPr>
          <a:xfrm>
            <a:off x="5314948" y="169772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12CA6A-CE7D-35E2-A97D-4EB96C723B1F}"/>
              </a:ext>
            </a:extLst>
          </p:cNvPr>
          <p:cNvSpPr/>
          <p:nvPr/>
        </p:nvSpPr>
        <p:spPr>
          <a:xfrm>
            <a:off x="3000309" y="1723592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019D8F-FA38-EF7A-EF0B-4D65D09B6476}"/>
              </a:ext>
            </a:extLst>
          </p:cNvPr>
          <p:cNvSpPr/>
          <p:nvPr/>
        </p:nvSpPr>
        <p:spPr>
          <a:xfrm>
            <a:off x="7051916" y="1744628"/>
            <a:ext cx="1363897" cy="24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DD01B5-97AC-B8A9-475D-E4588CB42067}"/>
              </a:ext>
            </a:extLst>
          </p:cNvPr>
          <p:cNvSpPr/>
          <p:nvPr/>
        </p:nvSpPr>
        <p:spPr>
          <a:xfrm>
            <a:off x="5314948" y="2064798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DB3196-5E9B-B82A-21AC-D848868F8DA9}"/>
              </a:ext>
            </a:extLst>
          </p:cNvPr>
          <p:cNvSpPr/>
          <p:nvPr/>
        </p:nvSpPr>
        <p:spPr>
          <a:xfrm>
            <a:off x="3124200" y="2114945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6CED9C-955F-4EA3-F7AA-3B18E411951B}"/>
              </a:ext>
            </a:extLst>
          </p:cNvPr>
          <p:cNvSpPr/>
          <p:nvPr/>
        </p:nvSpPr>
        <p:spPr>
          <a:xfrm>
            <a:off x="7061423" y="2132811"/>
            <a:ext cx="1338636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D62471-DB9F-38A9-57E7-8F2F7E06CA02}"/>
              </a:ext>
            </a:extLst>
          </p:cNvPr>
          <p:cNvSpPr/>
          <p:nvPr/>
        </p:nvSpPr>
        <p:spPr>
          <a:xfrm>
            <a:off x="5331612" y="2431515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78EC47-E806-5006-9204-4C51621ADC92}"/>
              </a:ext>
            </a:extLst>
          </p:cNvPr>
          <p:cNvSpPr/>
          <p:nvPr/>
        </p:nvSpPr>
        <p:spPr>
          <a:xfrm>
            <a:off x="3133720" y="2481662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458A10-61D5-57A0-E950-BA4502A7AA1C}"/>
              </a:ext>
            </a:extLst>
          </p:cNvPr>
          <p:cNvSpPr/>
          <p:nvPr/>
        </p:nvSpPr>
        <p:spPr>
          <a:xfrm>
            <a:off x="7095198" y="2477677"/>
            <a:ext cx="1291553" cy="23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575E54-AF0C-40EA-F27A-053DFD23915E}"/>
              </a:ext>
            </a:extLst>
          </p:cNvPr>
          <p:cNvSpPr/>
          <p:nvPr/>
        </p:nvSpPr>
        <p:spPr>
          <a:xfrm>
            <a:off x="5326844" y="2798235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03DEB7-FF75-9FEB-5D1E-232560B24DC4}"/>
              </a:ext>
            </a:extLst>
          </p:cNvPr>
          <p:cNvSpPr/>
          <p:nvPr/>
        </p:nvSpPr>
        <p:spPr>
          <a:xfrm>
            <a:off x="3128952" y="2848382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8B7158-EB7E-5192-57A5-CA53D33CA9A7}"/>
              </a:ext>
            </a:extLst>
          </p:cNvPr>
          <p:cNvSpPr/>
          <p:nvPr/>
        </p:nvSpPr>
        <p:spPr>
          <a:xfrm>
            <a:off x="7153268" y="284432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7DDEAB-E244-812D-A2A3-B463B6CEBB91}"/>
              </a:ext>
            </a:extLst>
          </p:cNvPr>
          <p:cNvSpPr/>
          <p:nvPr/>
        </p:nvSpPr>
        <p:spPr>
          <a:xfrm>
            <a:off x="5400660" y="3193531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97275B-746F-5F3A-4691-3162DA715B0B}"/>
              </a:ext>
            </a:extLst>
          </p:cNvPr>
          <p:cNvSpPr/>
          <p:nvPr/>
        </p:nvSpPr>
        <p:spPr>
          <a:xfrm>
            <a:off x="3167048" y="323079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8FA585-DD97-4CEF-7AB0-C3461052206B}"/>
              </a:ext>
            </a:extLst>
          </p:cNvPr>
          <p:cNvSpPr/>
          <p:nvPr/>
        </p:nvSpPr>
        <p:spPr>
          <a:xfrm>
            <a:off x="7191364" y="32396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672089-2A13-E45D-5A99-161E29A1D78A}"/>
              </a:ext>
            </a:extLst>
          </p:cNvPr>
          <p:cNvSpPr/>
          <p:nvPr/>
        </p:nvSpPr>
        <p:spPr>
          <a:xfrm>
            <a:off x="5353028" y="357453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51354C-4AD1-4CFE-493A-F92CCEB1A334}"/>
              </a:ext>
            </a:extLst>
          </p:cNvPr>
          <p:cNvSpPr/>
          <p:nvPr/>
        </p:nvSpPr>
        <p:spPr>
          <a:xfrm>
            <a:off x="3119416" y="3595188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1700F7-53B4-0EA5-7654-D6886C9DD1FB}"/>
              </a:ext>
            </a:extLst>
          </p:cNvPr>
          <p:cNvSpPr/>
          <p:nvPr/>
        </p:nvSpPr>
        <p:spPr>
          <a:xfrm>
            <a:off x="6962779" y="3579599"/>
            <a:ext cx="1460228" cy="276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616448-40E3-5A73-1622-048AC9F3A6BD}"/>
              </a:ext>
            </a:extLst>
          </p:cNvPr>
          <p:cNvSpPr/>
          <p:nvPr/>
        </p:nvSpPr>
        <p:spPr>
          <a:xfrm>
            <a:off x="5395892" y="3946019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730388-D754-EAF5-887D-E20CBAEE140C}"/>
              </a:ext>
            </a:extLst>
          </p:cNvPr>
          <p:cNvSpPr/>
          <p:nvPr/>
        </p:nvSpPr>
        <p:spPr>
          <a:xfrm>
            <a:off x="3147992" y="396618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715708-527A-4FC2-D827-F00667A03F7A}"/>
              </a:ext>
            </a:extLst>
          </p:cNvPr>
          <p:cNvSpPr/>
          <p:nvPr/>
        </p:nvSpPr>
        <p:spPr>
          <a:xfrm>
            <a:off x="7051916" y="3949853"/>
            <a:ext cx="1311980" cy="271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F046E0-ABC9-AB9B-4CA2-6D4BE5AC7EF2}"/>
              </a:ext>
            </a:extLst>
          </p:cNvPr>
          <p:cNvSpPr/>
          <p:nvPr/>
        </p:nvSpPr>
        <p:spPr>
          <a:xfrm>
            <a:off x="5495908" y="4288931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860449-D015-38EF-3C45-BD8A790E5002}"/>
              </a:ext>
            </a:extLst>
          </p:cNvPr>
          <p:cNvSpPr/>
          <p:nvPr/>
        </p:nvSpPr>
        <p:spPr>
          <a:xfrm>
            <a:off x="3262296" y="432619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28D509-7B6C-1007-D526-E25975C0FAF1}"/>
              </a:ext>
            </a:extLst>
          </p:cNvPr>
          <p:cNvSpPr/>
          <p:nvPr/>
        </p:nvSpPr>
        <p:spPr>
          <a:xfrm>
            <a:off x="7286612" y="43350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496454-5048-4FF4-EBA4-F240D6252C12}"/>
              </a:ext>
            </a:extLst>
          </p:cNvPr>
          <p:cNvSpPr/>
          <p:nvPr/>
        </p:nvSpPr>
        <p:spPr>
          <a:xfrm>
            <a:off x="5519716" y="465565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6FEC5E-5F65-5644-FEB8-EF736E8D4F94}"/>
              </a:ext>
            </a:extLst>
          </p:cNvPr>
          <p:cNvSpPr/>
          <p:nvPr/>
        </p:nvSpPr>
        <p:spPr>
          <a:xfrm>
            <a:off x="3286104" y="471867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477522-9ED6-6DD2-C084-369A957F13FF}"/>
              </a:ext>
            </a:extLst>
          </p:cNvPr>
          <p:cNvSpPr/>
          <p:nvPr/>
        </p:nvSpPr>
        <p:spPr>
          <a:xfrm>
            <a:off x="7310420" y="470173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8128DC-30CA-19E7-2B45-BE4D27DF72A6}"/>
              </a:ext>
            </a:extLst>
          </p:cNvPr>
          <p:cNvSpPr/>
          <p:nvPr/>
        </p:nvSpPr>
        <p:spPr>
          <a:xfrm>
            <a:off x="5505428" y="502713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71AB742-FE1D-6714-5D8B-A34E57EFAAB8}"/>
              </a:ext>
            </a:extLst>
          </p:cNvPr>
          <p:cNvSpPr/>
          <p:nvPr/>
        </p:nvSpPr>
        <p:spPr>
          <a:xfrm>
            <a:off x="3271816" y="505152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F034154-7CE0-7FB1-A5D7-9860017B3B74}"/>
              </a:ext>
            </a:extLst>
          </p:cNvPr>
          <p:cNvSpPr/>
          <p:nvPr/>
        </p:nvSpPr>
        <p:spPr>
          <a:xfrm>
            <a:off x="7036676" y="5073737"/>
            <a:ext cx="1386332" cy="224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56BEED2-AE69-5A8F-2D8F-930D5B7FC298}"/>
              </a:ext>
            </a:extLst>
          </p:cNvPr>
          <p:cNvSpPr/>
          <p:nvPr/>
        </p:nvSpPr>
        <p:spPr>
          <a:xfrm>
            <a:off x="5534004" y="5384323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3BA3D7B-51B9-FD66-255A-8AB8A4E3F654}"/>
              </a:ext>
            </a:extLst>
          </p:cNvPr>
          <p:cNvSpPr/>
          <p:nvPr/>
        </p:nvSpPr>
        <p:spPr>
          <a:xfrm>
            <a:off x="3271816" y="541771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A9D140-4ACF-E6E4-5348-8247EC115113}"/>
              </a:ext>
            </a:extLst>
          </p:cNvPr>
          <p:cNvSpPr/>
          <p:nvPr/>
        </p:nvSpPr>
        <p:spPr>
          <a:xfrm>
            <a:off x="6962779" y="5429633"/>
            <a:ext cx="1519221" cy="281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EA84A70-3525-A4B2-02A2-5A7B9D861F69}"/>
              </a:ext>
            </a:extLst>
          </p:cNvPr>
          <p:cNvSpPr/>
          <p:nvPr/>
        </p:nvSpPr>
        <p:spPr>
          <a:xfrm>
            <a:off x="5519716" y="5798681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C7612B4-E028-A319-D1E7-FF8EA206BC25}"/>
              </a:ext>
            </a:extLst>
          </p:cNvPr>
          <p:cNvSpPr/>
          <p:nvPr/>
        </p:nvSpPr>
        <p:spPr>
          <a:xfrm>
            <a:off x="3098006" y="579222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F2867BE-8F29-9F90-D52B-D15A46899D81}"/>
              </a:ext>
            </a:extLst>
          </p:cNvPr>
          <p:cNvSpPr/>
          <p:nvPr/>
        </p:nvSpPr>
        <p:spPr>
          <a:xfrm>
            <a:off x="6962779" y="5789242"/>
            <a:ext cx="1543029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68BE4AF-AEDD-DD48-5DB5-5E3A6F768D29}"/>
              </a:ext>
            </a:extLst>
          </p:cNvPr>
          <p:cNvSpPr/>
          <p:nvPr/>
        </p:nvSpPr>
        <p:spPr>
          <a:xfrm>
            <a:off x="5519716" y="615447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FB11FFE-6C8F-3AA0-CF02-85A952ED2A94}"/>
              </a:ext>
            </a:extLst>
          </p:cNvPr>
          <p:cNvSpPr/>
          <p:nvPr/>
        </p:nvSpPr>
        <p:spPr>
          <a:xfrm>
            <a:off x="3412333" y="6186190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02C264-67B3-3376-55DA-B4CCE075443F}"/>
              </a:ext>
            </a:extLst>
          </p:cNvPr>
          <p:cNvSpPr/>
          <p:nvPr/>
        </p:nvSpPr>
        <p:spPr>
          <a:xfrm>
            <a:off x="7143732" y="6200740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97252D-BFF5-3B1F-039D-228139B22E26}"/>
              </a:ext>
            </a:extLst>
          </p:cNvPr>
          <p:cNvSpPr/>
          <p:nvPr/>
        </p:nvSpPr>
        <p:spPr>
          <a:xfrm>
            <a:off x="214311" y="885818"/>
            <a:ext cx="2228848" cy="18358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Grammar</a:t>
            </a:r>
            <a:r>
              <a:rPr lang="en-US" sz="2200" dirty="0">
                <a:solidFill>
                  <a:srgbClr val="0E47A1"/>
                </a:solidFill>
                <a:latin typeface="Palatino Linotype" panose="02040502050505030304" pitchFamily="18" charset="0"/>
              </a:rPr>
              <a:t>:</a:t>
            </a:r>
          </a:p>
          <a:p>
            <a:r>
              <a:rPr lang="en-US" sz="2200" dirty="0">
                <a:solidFill>
                  <a:srgbClr val="0E47A1"/>
                </a:solidFill>
                <a:latin typeface="Palatino Linotype" panose="02040502050505030304" pitchFamily="18" charset="0"/>
              </a:rPr>
              <a:t>E</a:t>
            </a:r>
            <a:r>
              <a:rPr lang="en-US" sz="2200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E+T | T</a:t>
            </a:r>
          </a:p>
          <a:p>
            <a:r>
              <a:rPr lang="en-US" sz="2200" dirty="0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TT*F | F</a:t>
            </a:r>
          </a:p>
          <a:p>
            <a:r>
              <a:rPr lang="en-US" sz="2200" dirty="0" err="1">
                <a:solidFill>
                  <a:srgbClr val="0E47A1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Fid</a:t>
            </a:r>
            <a:endParaRPr lang="en-US" sz="2200" dirty="0">
              <a:solidFill>
                <a:srgbClr val="0E47A1"/>
              </a:solidFill>
              <a:latin typeface="Palatino Linotype" panose="02040502050505030304" pitchFamily="18" charset="0"/>
              <a:sym typeface="Wingdings" panose="05000000000000000000" pitchFamily="2" charset="2"/>
            </a:endParaRPr>
          </a:p>
          <a:p>
            <a:r>
              <a:rPr lang="en-US" sz="22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String: </a:t>
            </a:r>
            <a:r>
              <a:rPr lang="en-US" sz="2200" dirty="0" err="1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id+id</a:t>
            </a:r>
            <a:r>
              <a:rPr lang="en-US" sz="2200" dirty="0">
                <a:solidFill>
                  <a:srgbClr val="C00000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*id</a:t>
            </a:r>
            <a:endParaRPr lang="en-US" sz="2200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3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4561-F022-DB44-74E3-4292F253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3276C-004C-C3C9-6ECC-1786906A1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Consider the grammar </a:t>
            </a:r>
          </a:p>
          <a:p>
            <a:pPr marL="0" indent="0">
              <a:buNone/>
            </a:pPr>
            <a:r>
              <a:rPr lang="en-US" dirty="0"/>
              <a:t>E –&gt; 2E2 </a:t>
            </a:r>
          </a:p>
          <a:p>
            <a:pPr marL="0" indent="0">
              <a:buNone/>
            </a:pPr>
            <a:r>
              <a:rPr lang="en-US" dirty="0"/>
              <a:t>E –&gt; 3E3 </a:t>
            </a:r>
          </a:p>
          <a:p>
            <a:pPr marL="0" indent="0">
              <a:buNone/>
            </a:pPr>
            <a:r>
              <a:rPr lang="en-US" dirty="0"/>
              <a:t>E –&gt; 4 </a:t>
            </a:r>
          </a:p>
          <a:p>
            <a:pPr marL="0" indent="0">
              <a:buNone/>
            </a:pPr>
            <a:r>
              <a:rPr lang="en-US" dirty="0"/>
              <a:t>Perform Shift Reduce parsing for input string “32423”.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93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F992-5491-4C0D-A6E0-3A1E1888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344" y="-70644"/>
            <a:ext cx="10515600" cy="1325563"/>
          </a:xfrm>
        </p:spPr>
        <p:txBody>
          <a:bodyPr/>
          <a:lstStyle/>
          <a:p>
            <a:r>
              <a:rPr lang="en-IN" dirty="0"/>
              <a:t>Example 2 -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055D7-3C8E-8130-0693-BD3E6041D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131" y="1114425"/>
            <a:ext cx="8970739" cy="561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0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6C47-82F2-41CF-5518-B313AA2E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CB01B-21D3-EA6E-1714-19332794C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the grammar</a:t>
            </a:r>
          </a:p>
          <a:p>
            <a:pPr marL="0" indent="0">
              <a:buNone/>
            </a:pPr>
            <a:r>
              <a:rPr lang="en-US" dirty="0"/>
              <a:t>                         S –&gt;  ( L ) | a        </a:t>
            </a:r>
          </a:p>
          <a:p>
            <a:pPr marL="0" indent="0">
              <a:buNone/>
            </a:pPr>
            <a:r>
              <a:rPr lang="en-US" dirty="0"/>
              <a:t>                         L –&gt;  L , S | S    </a:t>
            </a:r>
          </a:p>
          <a:p>
            <a:pPr marL="0" indent="0">
              <a:buNone/>
            </a:pPr>
            <a:r>
              <a:rPr lang="en-US" dirty="0"/>
              <a:t>Perform Shift Reduce parsing for input string “( a, ( a, a ) ) “.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443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8D40-0357-E02B-D40A-E53F1FFC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21518"/>
          </a:xfrm>
        </p:spPr>
        <p:txBody>
          <a:bodyPr>
            <a:normAutofit/>
          </a:bodyPr>
          <a:lstStyle/>
          <a:p>
            <a:r>
              <a:rPr lang="en-IN" sz="4000" dirty="0"/>
              <a:t>Example 3 - 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6A2F91-222C-2379-55F6-A9BCDCD32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077BEF-101D-958E-7487-A55564D74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668" y="754063"/>
            <a:ext cx="8317202" cy="5932487"/>
          </a:xfrm>
        </p:spPr>
      </p:pic>
    </p:spTree>
    <p:extLst>
      <p:ext uri="{BB962C8B-B14F-4D97-AF65-F5344CB8AC3E}">
        <p14:creationId xmlns:p14="http://schemas.microsoft.com/office/powerpoint/2010/main" val="4129580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48AD1842-B1E0-1460-1E16-B5FFA111FD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F8CFF-B74E-C682-FE5C-18EE4D1B1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603" y="1088139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ABF46-FA50-8E82-A828-AA55D755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796" y="2182701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BA62D-8961-1536-02CE-529C07DE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9" y="2185736"/>
            <a:ext cx="3258632" cy="45720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4AFE7-C91E-23A9-E1C0-5C9C4433A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796" y="2904838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B6F60-1271-5581-3C5A-143386823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298" y="3561589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F42CA-CA81-FA78-9C2E-0124F81D6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581" y="3870835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138DCC-AE91-4474-F240-F82899341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223" y="2897493"/>
            <a:ext cx="2322105" cy="461884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AB7C3-0A2A-83DC-FFB9-4E627E31F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3466" y="5723163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99219-C9E2-3E81-11F9-0BD88ACCA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6539" y="5048674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C0C808-3397-9CCA-A476-E563AEBF7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0210" y="4396125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2C68AB53-7DFB-DBB6-A0D7-C7FA46075936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27978" y="1516764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43230562-5F5C-A042-BD0B-BBDA31293441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205041" y="1516764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C2973A9C-6391-14EA-3C48-27083E4DBB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6143" y="2619271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4278EA37-7D36-6E3F-6118-33D9829FE4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0521" y="313239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DA28DA9-7AF4-14A2-AC18-C47D518D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2637" y="5411592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41200-90DE-E95D-49E3-B5242C67C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978" y="4730270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3C4232-B1E7-730A-2CCD-BB373EF5F6DA}"/>
              </a:ext>
            </a:extLst>
          </p:cNvPr>
          <p:cNvSpPr/>
          <p:nvPr/>
        </p:nvSpPr>
        <p:spPr>
          <a:xfrm>
            <a:off x="2010506" y="2109536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036EDA-DAA9-11BA-E3D1-21678C6D4B32}"/>
              </a:ext>
            </a:extLst>
          </p:cNvPr>
          <p:cNvSpPr/>
          <p:nvPr/>
        </p:nvSpPr>
        <p:spPr>
          <a:xfrm>
            <a:off x="6438511" y="2109536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CC52ECA1-9AB0-79DB-10C3-60E0B2E975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01163" y="406291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E321C0C2-2ABD-6137-80AC-6F266362E6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35904" y="495978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12FAFE10-0454-E3A7-F870-6B3311EF48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21349" y="573883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14B954-7A8B-B7F0-E242-D9EBBA37B2C9}"/>
              </a:ext>
            </a:extLst>
          </p:cNvPr>
          <p:cNvCxnSpPr/>
          <p:nvPr/>
        </p:nvCxnSpPr>
        <p:spPr>
          <a:xfrm flipH="1" flipV="1">
            <a:off x="3635904" y="4566321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E707CA6A-20D8-DE3D-FED5-632BEC89662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0203" y="2659298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F2F76800-69D6-8A55-290E-E4A15E4DAB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4581" y="317242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75828209-6304-1C07-6CF7-D4C8B9C4DC9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65223" y="410294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8C5BA0E1-B351-0F75-2286-C6E540CF0F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17210" y="456632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B504497A-8C72-D6A7-8B6B-8E5D0E885E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34045" y="5244694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2B61E9-48BB-A9BA-D1B7-CFFDDCD1C8B4}"/>
              </a:ext>
            </a:extLst>
          </p:cNvPr>
          <p:cNvCxnSpPr/>
          <p:nvPr/>
        </p:nvCxnSpPr>
        <p:spPr>
          <a:xfrm flipV="1">
            <a:off x="8115200" y="4269868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C82AB213-89A3-9877-FA22-096C5BD834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95849" y="5935194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3946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B5D2-680B-6F77-EF3D-8F1B7823B1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8656-B5AE-4243-C0DC-571A864709F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0099"/>
                </a:solidFill>
              </a:rPr>
              <a:t>An operator precedence parser </a:t>
            </a:r>
            <a:r>
              <a:rPr lang="en-US" dirty="0"/>
              <a:t>is a bottom-up parser that interprets an operator grammar</a:t>
            </a:r>
          </a:p>
          <a:p>
            <a:r>
              <a:rPr lang="en-US" b="1" dirty="0">
                <a:solidFill>
                  <a:srgbClr val="000099"/>
                </a:solidFill>
              </a:rPr>
              <a:t>Operator Grammar</a:t>
            </a:r>
            <a:r>
              <a:rPr lang="en-US" dirty="0">
                <a:solidFill>
                  <a:srgbClr val="000099"/>
                </a:solidFill>
              </a:rPr>
              <a:t>: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dirty="0"/>
              <a:t>A Grammar in which there is no Є in RHS of any production or no adjacent non-terminals is called operator  grammar.</a:t>
            </a:r>
          </a:p>
          <a:p>
            <a:r>
              <a:rPr lang="en-US" dirty="0"/>
              <a:t>Example: 	E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EAE </a:t>
            </a:r>
            <a:r>
              <a:rPr lang="en-US" dirty="0">
                <a:sym typeface="Wingdings" panose="05000000000000000000" pitchFamily="2" charset="2"/>
              </a:rPr>
              <a:t>| (E) | 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		A + | * | -</a:t>
            </a:r>
          </a:p>
          <a:p>
            <a:r>
              <a:rPr lang="en-US" dirty="0">
                <a:sym typeface="Wingdings" panose="05000000000000000000" pitchFamily="2" charset="2"/>
              </a:rPr>
              <a:t>Above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grammar is not operator grammar </a:t>
            </a:r>
            <a:r>
              <a:rPr lang="en-US" dirty="0">
                <a:sym typeface="Wingdings" panose="05000000000000000000" pitchFamily="2" charset="2"/>
              </a:rPr>
              <a:t>because right side </a:t>
            </a:r>
            <a:r>
              <a:rPr lang="en-US" b="1" i="1" dirty="0">
                <a:solidFill>
                  <a:srgbClr val="C00000"/>
                </a:solidFill>
                <a:sym typeface="Wingdings" panose="05000000000000000000" pitchFamily="2" charset="2"/>
              </a:rPr>
              <a:t>EAE</a:t>
            </a:r>
            <a:r>
              <a:rPr lang="en-US" dirty="0">
                <a:sym typeface="Wingdings" panose="05000000000000000000" pitchFamily="2" charset="2"/>
              </a:rPr>
              <a:t> has consecutive non terminals.</a:t>
            </a:r>
          </a:p>
          <a:p>
            <a:r>
              <a:rPr lang="en-US" dirty="0">
                <a:sym typeface="Wingdings" panose="05000000000000000000" pitchFamily="2" charset="2"/>
              </a:rPr>
              <a:t>In operator precedence parsing we define following disjoint relations: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C251A7-4C6A-255B-97BF-5CF50D2EEFAE}"/>
              </a:ext>
            </a:extLst>
          </p:cNvPr>
          <p:cNvCxnSpPr>
            <a:cxnSpLocks/>
          </p:cNvCxnSpPr>
          <p:nvPr/>
        </p:nvCxnSpPr>
        <p:spPr>
          <a:xfrm>
            <a:off x="8747103" y="2141023"/>
            <a:ext cx="21657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F84254-B9E6-8C2F-966A-34650526D9F6}"/>
              </a:ext>
            </a:extLst>
          </p:cNvPr>
          <p:cNvCxnSpPr>
            <a:cxnSpLocks/>
          </p:cNvCxnSpPr>
          <p:nvPr/>
        </p:nvCxnSpPr>
        <p:spPr>
          <a:xfrm>
            <a:off x="2776486" y="2622162"/>
            <a:ext cx="406907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3690C3-CABD-D6C3-4F8F-49C030997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360365"/>
              </p:ext>
            </p:extLst>
          </p:nvPr>
        </p:nvGraphicFramePr>
        <p:xfrm>
          <a:off x="2243087" y="5066304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Relation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608FEF-1261-C717-907D-36D09B1A0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27975"/>
              </p:ext>
            </p:extLst>
          </p:nvPr>
        </p:nvGraphicFramePr>
        <p:xfrm>
          <a:off x="2243087" y="5437144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a&lt;</a:t>
                      </a:r>
                      <a:r>
                        <a:rPr lang="en-US" sz="2400" b="1" baseline="18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b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“yields precedence to” b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507404-1532-A297-035B-6C1966CB4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296804"/>
              </p:ext>
            </p:extLst>
          </p:nvPr>
        </p:nvGraphicFramePr>
        <p:xfrm>
          <a:off x="2247849" y="580480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a=b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“has the same precedence as” b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26256B-C5BC-7EE4-AEDE-214834DA2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438366"/>
              </p:ext>
            </p:extLst>
          </p:nvPr>
        </p:nvGraphicFramePr>
        <p:xfrm>
          <a:off x="2243087" y="617247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400" b="1" baseline="18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b="0">
                          <a:solidFill>
                            <a:schemeClr val="tx1"/>
                          </a:solidFill>
                        </a:rPr>
                        <a:t>&gt;b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“takes precedence over” b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44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1B84A-2529-A1F0-C933-C6E5AE344AD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Precedence &amp; associativity of operators</a:t>
            </a:r>
          </a:p>
        </p:txBody>
      </p:sp>
      <p:graphicFrame>
        <p:nvGraphicFramePr>
          <p:cNvPr id="3" name="Group 38">
            <a:extLst>
              <a:ext uri="{FF2B5EF4-FFF2-40B4-BE49-F238E27FC236}">
                <a16:creationId xmlns:a16="http://schemas.microsoft.com/office/drawing/2014/main" id="{01F0D072-3D9D-A4DF-5FC0-BC5DB23485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285264"/>
              </p:ext>
            </p:extLst>
          </p:nvPr>
        </p:nvGraphicFramePr>
        <p:xfrm>
          <a:off x="1773936" y="1014984"/>
          <a:ext cx="8229600" cy="2187577"/>
        </p:xfrm>
        <a:graphic>
          <a:graphicData uri="http://schemas.openxmlformats.org/drawingml/2006/table">
            <a:tbl>
              <a:tblPr/>
              <a:tblGrid>
                <a:gridCol w="266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1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Operator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Precedence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Associative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sz="2600" b="0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+mn-cs"/>
                        </a:rPr>
                        <a:t>↑</a:t>
                      </a:r>
                      <a:endParaRPr kumimoji="1" lang="en-US" altLang="zh-TW" sz="2400" b="0" i="0" u="sng" strike="noStrike" kern="9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right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*, /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left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1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+, -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left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93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5C37-F7F2-78C6-D4E0-24084C26AFD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Steps of operator precedence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FB569-707A-B0A4-B0E5-F9276BF23F3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/>
              <a:t>Find Leading and trailing of non terminal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 relation and Creation of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Parse the string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7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D4AE-3663-13B8-E360-83B38849A8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Leading &amp; Trailing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A3B9-55FD-3162-0797-59D3A309D7C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E47A1"/>
                </a:solidFill>
              </a:rPr>
              <a:t>Leading:- </a:t>
            </a:r>
            <a:r>
              <a:rPr lang="en-US" dirty="0"/>
              <a:t>Leading of a non-terminal is the </a:t>
            </a:r>
            <a:r>
              <a:rPr lang="en-US" dirty="0">
                <a:solidFill>
                  <a:srgbClr val="C00000"/>
                </a:solidFill>
              </a:rPr>
              <a:t>first terminal or operator </a:t>
            </a:r>
            <a:r>
              <a:rPr lang="en-US" dirty="0"/>
              <a:t>in production of that non-terminal.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E47A1"/>
                </a:solidFill>
              </a:rPr>
              <a:t>Trailing:- </a:t>
            </a:r>
            <a:r>
              <a:rPr lang="en-US" dirty="0"/>
              <a:t>Trailing of a non-terminal is the </a:t>
            </a:r>
            <a:r>
              <a:rPr lang="en-US" dirty="0">
                <a:solidFill>
                  <a:srgbClr val="C00000"/>
                </a:solidFill>
              </a:rPr>
              <a:t>last terminal or operator </a:t>
            </a:r>
            <a:r>
              <a:rPr lang="en-US" dirty="0"/>
              <a:t>in production of that non-terminal.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Example 1:</a:t>
            </a:r>
            <a:r>
              <a:rPr lang="en-US" dirty="0"/>
              <a:t> 	</a:t>
            </a:r>
            <a:r>
              <a:rPr lang="en-US" dirty="0">
                <a:solidFill>
                  <a:srgbClr val="0E47A1"/>
                </a:solidFill>
              </a:rPr>
              <a:t>E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E+T | 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		TT*F | 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Fid</a:t>
            </a:r>
            <a:endParaRPr lang="en-US" dirty="0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4C6B96-0018-AE9A-68D0-B486A0C6A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60087"/>
              </p:ext>
            </p:extLst>
          </p:nvPr>
        </p:nvGraphicFramePr>
        <p:xfrm>
          <a:off x="3097716" y="4713077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 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5911C5-CC97-A9B5-C299-19D5106BB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933363"/>
              </p:ext>
            </p:extLst>
          </p:nvPr>
        </p:nvGraphicFramePr>
        <p:xfrm>
          <a:off x="3097716" y="5083917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4519E5-BC88-5E0F-95F6-03AC45E39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276603"/>
              </p:ext>
            </p:extLst>
          </p:nvPr>
        </p:nvGraphicFramePr>
        <p:xfrm>
          <a:off x="3097716" y="5448089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383DA1-49FE-683F-AC0D-EA4DDD2A4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330424"/>
              </p:ext>
            </p:extLst>
          </p:nvPr>
        </p:nvGraphicFramePr>
        <p:xfrm>
          <a:off x="3097716" y="5813054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943FA3A-A3AD-61C4-6BE5-C1127154F270}"/>
              </a:ext>
            </a:extLst>
          </p:cNvPr>
          <p:cNvSpPr/>
          <p:nvPr/>
        </p:nvSpPr>
        <p:spPr>
          <a:xfrm>
            <a:off x="5207491" y="5859492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F76E7-D0E2-624D-5CE0-3166DD64FA89}"/>
              </a:ext>
            </a:extLst>
          </p:cNvPr>
          <p:cNvSpPr/>
          <p:nvPr/>
        </p:nvSpPr>
        <p:spPr>
          <a:xfrm>
            <a:off x="5193203" y="5509738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04E8FF-1C1C-D510-6F0C-405028F59C2E}"/>
              </a:ext>
            </a:extLst>
          </p:cNvPr>
          <p:cNvSpPr/>
          <p:nvPr/>
        </p:nvSpPr>
        <p:spPr>
          <a:xfrm>
            <a:off x="5191162" y="5158706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A1A989-EAD5-5B09-52C6-9FA5F5FDC063}"/>
              </a:ext>
            </a:extLst>
          </p:cNvPr>
          <p:cNvSpPr/>
          <p:nvPr/>
        </p:nvSpPr>
        <p:spPr>
          <a:xfrm>
            <a:off x="6802948" y="588226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2C22B1-0FF3-79D3-81DB-065BCBB5BBDD}"/>
              </a:ext>
            </a:extLst>
          </p:cNvPr>
          <p:cNvSpPr/>
          <p:nvPr/>
        </p:nvSpPr>
        <p:spPr>
          <a:xfrm>
            <a:off x="6802949" y="5519258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9CAA30-3737-3ADB-3DD2-47E699FEC361}"/>
              </a:ext>
            </a:extLst>
          </p:cNvPr>
          <p:cNvSpPr/>
          <p:nvPr/>
        </p:nvSpPr>
        <p:spPr>
          <a:xfrm>
            <a:off x="6793428" y="5174813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41049-6B16-876A-4A24-B5E583E09EA6}"/>
              </a:ext>
            </a:extLst>
          </p:cNvPr>
          <p:cNvSpPr txBox="1"/>
          <p:nvPr/>
        </p:nvSpPr>
        <p:spPr>
          <a:xfrm>
            <a:off x="6951629" y="2798714"/>
            <a:ext cx="4953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Palatino Linotype" panose="02040502050505030304" pitchFamily="18" charset="0"/>
              </a:rPr>
              <a:t>Rule</a:t>
            </a:r>
            <a:r>
              <a:rPr lang="en-IN" sz="2000" dirty="0">
                <a:latin typeface="Palatino Linotype" panose="02040502050505030304" pitchFamily="18" charset="0"/>
              </a:rPr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>
                <a:latin typeface="Palatino Linotype" panose="02040502050505030304" pitchFamily="18" charset="0"/>
              </a:rPr>
              <a:t>If A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 αa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 and (α is a single variable or 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ε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) then Leading (A) = 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>
                <a:latin typeface="Palatino Linotype" panose="02040502050505030304" pitchFamily="18" charset="0"/>
              </a:rPr>
              <a:t>If A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 Ba|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 and 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 is a variable (NT) then Leading (A) = Leading (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) </a:t>
            </a:r>
            <a:endParaRPr lang="en-IN" sz="2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69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D4AE-3663-13B8-E360-83B38849A8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Leading &amp; Trailing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A3B9-55FD-3162-0797-59D3A309D7C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Example 2: </a:t>
            </a:r>
            <a:r>
              <a:rPr lang="en-US" dirty="0"/>
              <a:t>	</a:t>
            </a:r>
            <a:r>
              <a:rPr lang="en-US" dirty="0">
                <a:solidFill>
                  <a:srgbClr val="0E47A1"/>
                </a:solidFill>
              </a:rPr>
              <a:t>S--&gt;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a | ^ | 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		T--&gt;T,S | 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		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4C6B96-0018-AE9A-68D0-B486A0C6A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296253"/>
              </p:ext>
            </p:extLst>
          </p:nvPr>
        </p:nvGraphicFramePr>
        <p:xfrm>
          <a:off x="1143000" y="3058160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 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5911C5-CC97-A9B5-C299-19D5106BB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94582"/>
              </p:ext>
            </p:extLst>
          </p:nvPr>
        </p:nvGraphicFramePr>
        <p:xfrm>
          <a:off x="1143000" y="3429000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{a,^, (}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{a,^,)}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4519E5-BC88-5E0F-95F6-03AC45E39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287364"/>
              </p:ext>
            </p:extLst>
          </p:nvPr>
        </p:nvGraphicFramePr>
        <p:xfrm>
          <a:off x="1143000" y="3793172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{,,a,^, (}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{,,a,^,)}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CAF76E7-D0E2-624D-5CE0-3166DD64FA89}"/>
              </a:ext>
            </a:extLst>
          </p:cNvPr>
          <p:cNvSpPr/>
          <p:nvPr/>
        </p:nvSpPr>
        <p:spPr>
          <a:xfrm>
            <a:off x="3232646" y="3895275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04E8FF-1C1C-D510-6F0C-405028F59C2E}"/>
              </a:ext>
            </a:extLst>
          </p:cNvPr>
          <p:cNvSpPr/>
          <p:nvPr/>
        </p:nvSpPr>
        <p:spPr>
          <a:xfrm>
            <a:off x="3238486" y="348580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2C22B1-0FF3-79D3-81DB-065BCBB5BBDD}"/>
              </a:ext>
            </a:extLst>
          </p:cNvPr>
          <p:cNvSpPr/>
          <p:nvPr/>
        </p:nvSpPr>
        <p:spPr>
          <a:xfrm>
            <a:off x="4848232" y="384150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9CAA30-3737-3ADB-3DD2-47E699FEC361}"/>
              </a:ext>
            </a:extLst>
          </p:cNvPr>
          <p:cNvSpPr/>
          <p:nvPr/>
        </p:nvSpPr>
        <p:spPr>
          <a:xfrm>
            <a:off x="4848232" y="3530113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41049-6B16-876A-4A24-B5E583E09EA6}"/>
              </a:ext>
            </a:extLst>
          </p:cNvPr>
          <p:cNvSpPr txBox="1"/>
          <p:nvPr/>
        </p:nvSpPr>
        <p:spPr>
          <a:xfrm>
            <a:off x="7107820" y="2798714"/>
            <a:ext cx="479680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Palatino Linotype" panose="02040502050505030304" pitchFamily="18" charset="0"/>
              </a:rPr>
              <a:t>Rule</a:t>
            </a:r>
            <a:r>
              <a:rPr lang="en-IN" sz="2000" dirty="0">
                <a:latin typeface="Palatino Linotype" panose="02040502050505030304" pitchFamily="18" charset="0"/>
              </a:rPr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>
                <a:latin typeface="Palatino Linotype" panose="02040502050505030304" pitchFamily="18" charset="0"/>
              </a:rPr>
              <a:t>If A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 αa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 and (α is a single variable or 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ε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) then Leading (A) = a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>
                <a:latin typeface="Palatino Linotype" panose="02040502050505030304" pitchFamily="18" charset="0"/>
              </a:rPr>
              <a:t>If A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 Ba|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 and 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 is a variable (NT) then Leading (A) = Leading (</a:t>
            </a:r>
            <a:r>
              <a:rPr lang="el-GR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β</a:t>
            </a:r>
            <a:r>
              <a:rPr lang="en-IN" sz="2000" dirty="0">
                <a:latin typeface="Palatino Linotype" panose="02040502050505030304" pitchFamily="18" charset="0"/>
                <a:sym typeface="Wingdings" panose="05000000000000000000" pitchFamily="2" charset="2"/>
              </a:rPr>
              <a:t>) </a:t>
            </a:r>
            <a:endParaRPr lang="en-IN" sz="2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40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1572-3B50-2817-4F60-204500EBF1A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establish a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8D54E0-859B-6589-20A9-F0714DA440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For </a:t>
                </a:r>
                <a:r>
                  <a:rPr lang="en-US" dirty="0">
                    <a:solidFill>
                      <a:srgbClr val="C00000"/>
                    </a:solidFill>
                  </a:rPr>
                  <a:t>a = b,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ea typeface="Cambria Math" panose="02040503050406030204" pitchFamily="18" charset="0"/>
                      </a:rPr>
                      <m:t>⇒ </m:t>
                    </m:r>
                    <m:r>
                      <m:rPr>
                        <m:nor/>
                      </m:rPr>
                      <a:rPr lang="en-US" i="0"/>
                      <m:t>aAb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/>
                      <m:t>A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or a </a:t>
                </a:r>
                <a:r>
                  <a:rPr lang="en-US">
                    <a:ea typeface="Cambria Math" panose="02040503050406030204" pitchFamily="18" charset="0"/>
                  </a:rPr>
                  <a:t>single non-terminal  </a:t>
                </a:r>
                <a:r>
                  <a:rPr lang="en-US" dirty="0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[</a:t>
                </a:r>
                <a:r>
                  <a:rPr lang="en-US" dirty="0" err="1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e.g</a:t>
                </a:r>
                <a:r>
                  <a:rPr lang="en-US" dirty="0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: (E)]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</a:rPr>
                  <a:t>a &lt;</a:t>
                </a:r>
                <a:r>
                  <a:rPr lang="en-US" baseline="30000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i="0"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IN" b="0" i="0" smtClean="0"/>
                      <m:t>T</m:t>
                    </m:r>
                    <m:r>
                      <m:rPr>
                        <m:nor/>
                      </m:rPr>
                      <a:rPr lang="en-US" i="0"/>
                      <m:t>.</m:t>
                    </m:r>
                    <m:r>
                      <m:rPr>
                        <m:nor/>
                      </m:rPr>
                      <a:rPr lang="en-US" i="0"/>
                      <m:t>NT</m:t>
                    </m:r>
                    <m:r>
                      <m:rPr>
                        <m:nor/>
                      </m:rPr>
                      <a:rPr lang="en-US" i="0"/>
                      <m:t>  </m:t>
                    </m:r>
                    <m:r>
                      <m:rPr>
                        <m:nor/>
                      </m:rPr>
                      <a:rPr lang="en-US" i="0"/>
                      <m:t>then</m:t>
                    </m:r>
                    <m:r>
                      <m:rPr>
                        <m:nor/>
                      </m:rPr>
                      <a:rPr lang="en-US" i="0"/>
                      <m:t>  </m:t>
                    </m:r>
                    <m:r>
                      <m:rPr>
                        <m:nor/>
                      </m:rPr>
                      <a:rPr lang="en-IN" b="0" i="0" smtClean="0"/>
                      <m:t>T</m:t>
                    </m:r>
                    <m:r>
                      <m:rPr>
                        <m:nor/>
                      </m:rPr>
                      <a:rPr lang="en-US" i="0"/>
                      <m:t> &lt;. </m:t>
                    </m:r>
                    <m:r>
                      <m:rPr>
                        <m:nor/>
                      </m:rPr>
                      <a:rPr lang="en-US" i="0"/>
                      <m:t>Leading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/>
                          <m:t>NT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[</a:t>
                </a:r>
                <a:r>
                  <a:rPr lang="en-US" dirty="0" err="1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e.g</a:t>
                </a:r>
                <a:r>
                  <a:rPr lang="en-US" dirty="0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: +T]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</a:rPr>
                  <a:t>a </a:t>
                </a:r>
                <a:r>
                  <a:rPr lang="en-US" baseline="25000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&gt;b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solidFill>
                          <a:srgbClr val="C00000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i="0"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i="0"/>
                      <m:t>NT</m:t>
                    </m:r>
                    <m:r>
                      <m:rPr>
                        <m:nor/>
                      </m:rPr>
                      <a:rPr lang="en-US" i="0"/>
                      <m:t>.</m:t>
                    </m:r>
                    <m:r>
                      <m:rPr>
                        <m:nor/>
                      </m:rPr>
                      <a:rPr lang="en-IN" b="0" i="0" smtClean="0"/>
                      <m:t>T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then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/>
                          <m:t>Trailing</m:t>
                        </m:r>
                        <m:r>
                          <m:rPr>
                            <m:nor/>
                          </m:rPr>
                          <a:rPr lang="en-US" i="0"/>
                          <m:t>(</m:t>
                        </m:r>
                        <m:r>
                          <m:rPr>
                            <m:nor/>
                          </m:rPr>
                          <a:rPr lang="en-US" i="0"/>
                          <m:t>NT</m:t>
                        </m:r>
                      </m:e>
                    </m:d>
                    <m:r>
                      <m:rPr>
                        <m:nor/>
                      </m:rPr>
                      <a:rPr lang="en-US" i="0"/>
                      <m:t>) </m:t>
                    </m:r>
                    <m:r>
                      <m:rPr>
                        <m:nor/>
                      </m:rPr>
                      <a:rPr lang="en-US" i="0" baseline="10000"/>
                      <m:t>.</m:t>
                    </m:r>
                    <m:r>
                      <m:rPr>
                        <m:nor/>
                      </m:rPr>
                      <a:rPr lang="en-US" i="0"/>
                      <m:t>&gt;</m:t>
                    </m:r>
                    <m:r>
                      <m:rPr>
                        <m:nor/>
                      </m:rPr>
                      <a:rPr lang="en-IN" b="0" i="0" smtClean="0"/>
                      <m:t>T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[</a:t>
                </a:r>
                <a:r>
                  <a:rPr lang="en-US" dirty="0" err="1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e.g</a:t>
                </a:r>
                <a:r>
                  <a:rPr lang="en-US" dirty="0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: E+]</a:t>
                </a:r>
                <a:endParaRPr lang="en-US" dirty="0">
                  <a:solidFill>
                    <a:srgbClr val="0E47A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</a:rPr>
                  <a:t>$ &lt;</a:t>
                </a:r>
                <a:r>
                  <a:rPr lang="en-US" baseline="30000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 Leading (start symbol)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</a:rPr>
                  <a:t>Trailing (start symbol)</a:t>
                </a:r>
                <a:r>
                  <a:rPr lang="en-US" baseline="25000" dirty="0">
                    <a:solidFill>
                      <a:srgbClr val="C00000"/>
                    </a:solidFill>
                  </a:rPr>
                  <a:t> .</a:t>
                </a:r>
                <a:r>
                  <a:rPr lang="en-US" dirty="0">
                    <a:solidFill>
                      <a:srgbClr val="C00000"/>
                    </a:solidFill>
                  </a:rPr>
                  <a:t>&gt; $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8D54E0-859B-6589-20A9-F0714DA44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58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2138-C70E-2EEE-7B8A-85EFC61DAAB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21441-9C5B-74FA-78BC-263B497995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a &lt;</a:t>
                </a:r>
                <a:r>
                  <a:rPr lang="en-US" b="1" baseline="30000" dirty="0">
                    <a:solidFill>
                      <a:srgbClr val="C00000"/>
                    </a:solidFill>
                    <a:latin typeface="+mj-lt"/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b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sz="2600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b="1" i="1" baseline="30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𝐿𝑒𝑎𝑑𝑖𝑛𝑔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𝑁𝑇</m:t>
                        </m:r>
                      </m:e>
                    </m:d>
                  </m:oMath>
                </a14:m>
                <a:endParaRPr lang="en-US" sz="2600" i="1" dirty="0">
                  <a:latin typeface="+mj-l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		             + &lt;</m:t>
                    </m:r>
                    <m:r>
                      <a:rPr lang="en-US" b="1" i="1" baseline="1000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∗,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</m:oMath>
                </a14:m>
                <a:endParaRPr lang="en-US" i="1" dirty="0">
                  <a:latin typeface="+mj-l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		            ∗ &lt;</m:t>
                    </m:r>
                    <m:r>
                      <a:rPr lang="en-US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21441-9C5B-74FA-78BC-263B49799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976C1B-18BE-37FA-F9DA-A9525EBF2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14961"/>
              </p:ext>
            </p:extLst>
          </p:nvPr>
        </p:nvGraphicFramePr>
        <p:xfrm>
          <a:off x="238113" y="1488683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C04947-ECEB-C8DC-7AF3-E4E74C5C0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169473"/>
              </p:ext>
            </p:extLst>
          </p:nvPr>
        </p:nvGraphicFramePr>
        <p:xfrm>
          <a:off x="238113" y="1859523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9C2B9A-B574-E4A7-F758-553032325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446069"/>
              </p:ext>
            </p:extLst>
          </p:nvPr>
        </p:nvGraphicFramePr>
        <p:xfrm>
          <a:off x="238113" y="222369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5D6D74-4814-801B-9098-DA30A36E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144174"/>
              </p:ext>
            </p:extLst>
          </p:nvPr>
        </p:nvGraphicFramePr>
        <p:xfrm>
          <a:off x="238113" y="2588660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78B9485-4FC6-732F-B7F1-6A45B275807C}"/>
              </a:ext>
            </a:extLst>
          </p:cNvPr>
          <p:cNvSpPr/>
          <p:nvPr/>
        </p:nvSpPr>
        <p:spPr>
          <a:xfrm>
            <a:off x="157162" y="1019162"/>
            <a:ext cx="4576742" cy="349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1: Find Leading &amp; Trailing of NT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3AC19-5320-412E-0510-57D9C4A30B8F}"/>
              </a:ext>
            </a:extLst>
          </p:cNvPr>
          <p:cNvSpPr/>
          <p:nvPr/>
        </p:nvSpPr>
        <p:spPr>
          <a:xfrm>
            <a:off x="157161" y="3334138"/>
            <a:ext cx="4171949" cy="22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 2 (a): Establish Relation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68C17D-2FA9-DC84-05C6-141C152B3922}"/>
              </a:ext>
            </a:extLst>
          </p:cNvPr>
          <p:cNvSpPr/>
          <p:nvPr/>
        </p:nvSpPr>
        <p:spPr>
          <a:xfrm>
            <a:off x="6329340" y="120966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</a:rPr>
              <a:t>E</a:t>
            </a:r>
            <a:r>
              <a:rPr lang="en-US" sz="2200" b="1" dirty="0">
                <a:latin typeface="Palatino Linotype" panose="02040502050505030304" pitchFamily="18" charset="0"/>
                <a:sym typeface="Wingdings" panose="05000000000000000000" pitchFamily="2" charset="2"/>
              </a:rPr>
              <a:t> E</a:t>
            </a:r>
            <a:r>
              <a:rPr lang="en-US" sz="2200" b="1" dirty="0">
                <a:latin typeface="Palatino Linotype" panose="02040502050505030304" pitchFamily="18" charset="0"/>
              </a:rPr>
              <a:t>	</a:t>
            </a:r>
            <a:endParaRPr lang="en-US" sz="2200" b="1" dirty="0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0EE95-4F0C-6834-A86A-ADF9C645E3DE}"/>
              </a:ext>
            </a:extLst>
          </p:cNvPr>
          <p:cNvSpPr/>
          <p:nvPr/>
        </p:nvSpPr>
        <p:spPr>
          <a:xfrm>
            <a:off x="4962494" y="3233071"/>
            <a:ext cx="3676681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Step2(b): Creation of Table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98AF3-5E86-3C58-5F2B-5C51C3C4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23282"/>
              </p:ext>
            </p:extLst>
          </p:nvPr>
        </p:nvGraphicFramePr>
        <p:xfrm>
          <a:off x="5105400" y="369846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942083C-7170-5A5E-C76B-7789BAA1C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52756"/>
              </p:ext>
            </p:extLst>
          </p:nvPr>
        </p:nvGraphicFramePr>
        <p:xfrm>
          <a:off x="5105399" y="4062637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566FBA8-0C8F-0A9B-A9AD-2C61B8608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341541"/>
              </p:ext>
            </p:extLst>
          </p:nvPr>
        </p:nvGraphicFramePr>
        <p:xfrm>
          <a:off x="5105398" y="442528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690863-37A3-F913-CFBA-470800E6E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541080"/>
              </p:ext>
            </p:extLst>
          </p:nvPr>
        </p:nvGraphicFramePr>
        <p:xfrm>
          <a:off x="5105397" y="4789458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41180F1-C6B0-0331-FD2A-96D80A55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369343"/>
              </p:ext>
            </p:extLst>
          </p:nvPr>
        </p:nvGraphicFramePr>
        <p:xfrm>
          <a:off x="5105396" y="51505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7A7CDCF1-505F-B755-ACFF-E79486C68993}"/>
              </a:ext>
            </a:extLst>
          </p:cNvPr>
          <p:cNvSpPr/>
          <p:nvPr/>
        </p:nvSpPr>
        <p:spPr>
          <a:xfrm>
            <a:off x="5867402" y="413090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8F626-5042-830D-3C4A-EEDDFA8C3558}"/>
              </a:ext>
            </a:extLst>
          </p:cNvPr>
          <p:cNvSpPr/>
          <p:nvPr/>
        </p:nvSpPr>
        <p:spPr>
          <a:xfrm>
            <a:off x="6629405" y="412714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807718-33E6-BCFE-63C3-FEDC9D8E7F9B}"/>
              </a:ext>
            </a:extLst>
          </p:cNvPr>
          <p:cNvSpPr/>
          <p:nvPr/>
        </p:nvSpPr>
        <p:spPr>
          <a:xfrm>
            <a:off x="7391408" y="412714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FAB774-8EC6-4DF5-B5B8-5423EF9D0277}"/>
              </a:ext>
            </a:extLst>
          </p:cNvPr>
          <p:cNvSpPr/>
          <p:nvPr/>
        </p:nvSpPr>
        <p:spPr>
          <a:xfrm>
            <a:off x="8053416" y="412596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6A3FF8-64C8-966F-00D1-3A8FA97BCB32}"/>
              </a:ext>
            </a:extLst>
          </p:cNvPr>
          <p:cNvSpPr/>
          <p:nvPr/>
        </p:nvSpPr>
        <p:spPr>
          <a:xfrm>
            <a:off x="5834058" y="449762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4ECDCB-856E-323F-1113-040C70B71D0D}"/>
              </a:ext>
            </a:extLst>
          </p:cNvPr>
          <p:cNvSpPr/>
          <p:nvPr/>
        </p:nvSpPr>
        <p:spPr>
          <a:xfrm>
            <a:off x="6596061" y="449386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75B8A5-D71C-8EA0-9493-2726A432B4D6}"/>
              </a:ext>
            </a:extLst>
          </p:cNvPr>
          <p:cNvSpPr/>
          <p:nvPr/>
        </p:nvSpPr>
        <p:spPr>
          <a:xfrm>
            <a:off x="7358064" y="449386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604784-AC00-E53B-B266-8D8A3A2F26FB}"/>
              </a:ext>
            </a:extLst>
          </p:cNvPr>
          <p:cNvSpPr/>
          <p:nvPr/>
        </p:nvSpPr>
        <p:spPr>
          <a:xfrm>
            <a:off x="8020072" y="449268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60109-C55D-D26A-AFF5-1F0D535A5397}"/>
              </a:ext>
            </a:extLst>
          </p:cNvPr>
          <p:cNvSpPr/>
          <p:nvPr/>
        </p:nvSpPr>
        <p:spPr>
          <a:xfrm>
            <a:off x="5834061" y="486910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277832-CAF7-68ED-8A27-D6B9A5231A61}"/>
              </a:ext>
            </a:extLst>
          </p:cNvPr>
          <p:cNvSpPr/>
          <p:nvPr/>
        </p:nvSpPr>
        <p:spPr>
          <a:xfrm>
            <a:off x="6596064" y="4865343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B89CF0-BEFD-9934-0B52-B6E4194B25C8}"/>
              </a:ext>
            </a:extLst>
          </p:cNvPr>
          <p:cNvSpPr/>
          <p:nvPr/>
        </p:nvSpPr>
        <p:spPr>
          <a:xfrm>
            <a:off x="7358067" y="48653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A2B065-2031-2C84-7133-4C4E418DC658}"/>
              </a:ext>
            </a:extLst>
          </p:cNvPr>
          <p:cNvSpPr/>
          <p:nvPr/>
        </p:nvSpPr>
        <p:spPr>
          <a:xfrm>
            <a:off x="8020075" y="486415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95523B-5010-A59A-C387-ECA0F9202DF3}"/>
              </a:ext>
            </a:extLst>
          </p:cNvPr>
          <p:cNvSpPr/>
          <p:nvPr/>
        </p:nvSpPr>
        <p:spPr>
          <a:xfrm>
            <a:off x="5834061" y="521200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5E1044-9FB7-B555-FD30-115F5BC23628}"/>
              </a:ext>
            </a:extLst>
          </p:cNvPr>
          <p:cNvSpPr/>
          <p:nvPr/>
        </p:nvSpPr>
        <p:spPr>
          <a:xfrm>
            <a:off x="6596064" y="52082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F620F8-BA01-17D3-876F-9242AA1C8AAA}"/>
              </a:ext>
            </a:extLst>
          </p:cNvPr>
          <p:cNvSpPr/>
          <p:nvPr/>
        </p:nvSpPr>
        <p:spPr>
          <a:xfrm>
            <a:off x="7358067" y="520824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6BD029-EA26-350D-0A11-57BAC281B1AB}"/>
              </a:ext>
            </a:extLst>
          </p:cNvPr>
          <p:cNvSpPr/>
          <p:nvPr/>
        </p:nvSpPr>
        <p:spPr>
          <a:xfrm>
            <a:off x="8020075" y="5207057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010942-F939-2393-3EBA-563415F24E42}"/>
              </a:ext>
            </a:extLst>
          </p:cNvPr>
          <p:cNvSpPr/>
          <p:nvPr/>
        </p:nvSpPr>
        <p:spPr>
          <a:xfrm>
            <a:off x="6926615" y="1203219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  <a:sym typeface="Wingdings" panose="05000000000000000000" pitchFamily="2" charset="2"/>
              </a:rPr>
              <a:t> +T</a:t>
            </a:r>
            <a:r>
              <a:rPr lang="en-US" sz="2200" b="1" dirty="0">
                <a:latin typeface="Palatino Linotype" panose="02040502050505030304" pitchFamily="18" charset="0"/>
              </a:rPr>
              <a:t>	</a:t>
            </a:r>
            <a:endParaRPr lang="en-US" sz="2200" b="1" dirty="0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4672B9-75CE-B17E-5C78-B5E9B0D99E71}"/>
              </a:ext>
            </a:extLst>
          </p:cNvPr>
          <p:cNvSpPr/>
          <p:nvPr/>
        </p:nvSpPr>
        <p:spPr>
          <a:xfrm>
            <a:off x="7312382" y="122465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  <a:sym typeface="Wingdings" panose="05000000000000000000" pitchFamily="2" charset="2"/>
              </a:rPr>
              <a:t>| T</a:t>
            </a:r>
            <a:r>
              <a:rPr lang="en-US" sz="2200" b="1" dirty="0">
                <a:latin typeface="Palatino Linotype" panose="02040502050505030304" pitchFamily="18" charset="0"/>
              </a:rPr>
              <a:t>	</a:t>
            </a:r>
            <a:endParaRPr lang="en-US" sz="2200" b="1" dirty="0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A7D1DA-0BD3-92D2-3E55-796F08C0C83C}"/>
              </a:ext>
            </a:extLst>
          </p:cNvPr>
          <p:cNvSpPr/>
          <p:nvPr/>
        </p:nvSpPr>
        <p:spPr>
          <a:xfrm>
            <a:off x="6329340" y="154143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  <a:sym typeface="Wingdings" panose="05000000000000000000" pitchFamily="2" charset="2"/>
              </a:rPr>
              <a:t>T 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2FE609-B4FF-3565-C51E-687228CA69FC}"/>
              </a:ext>
            </a:extLst>
          </p:cNvPr>
          <p:cNvSpPr/>
          <p:nvPr/>
        </p:nvSpPr>
        <p:spPr>
          <a:xfrm>
            <a:off x="7012779" y="1572311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</a:rPr>
              <a:t>*F	</a:t>
            </a:r>
            <a:endParaRPr lang="en-US" sz="2200" b="1" dirty="0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957CC4-FA7E-6272-F9AB-ECBA10D6443A}"/>
              </a:ext>
            </a:extLst>
          </p:cNvPr>
          <p:cNvSpPr/>
          <p:nvPr/>
        </p:nvSpPr>
        <p:spPr>
          <a:xfrm>
            <a:off x="7305238" y="154143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  <a:sym typeface="Wingdings" panose="05000000000000000000" pitchFamily="2" charset="2"/>
              </a:rPr>
              <a:t>| F</a:t>
            </a:r>
            <a:r>
              <a:rPr lang="en-US" sz="2200" b="1" dirty="0">
                <a:latin typeface="Palatino Linotype" panose="02040502050505030304" pitchFamily="18" charset="0"/>
              </a:rPr>
              <a:t>	</a:t>
            </a:r>
            <a:endParaRPr lang="en-US" sz="2200" b="1" dirty="0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6B30C-C9A0-CDED-507A-EECF04205D21}"/>
              </a:ext>
            </a:extLst>
          </p:cNvPr>
          <p:cNvSpPr/>
          <p:nvPr/>
        </p:nvSpPr>
        <p:spPr>
          <a:xfrm>
            <a:off x="6344039" y="185821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  <a:sym typeface="Wingdings" panose="05000000000000000000" pitchFamily="2" charset="2"/>
              </a:rPr>
              <a:t>F id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B289243-C853-2D93-2DDD-6D0AB50F06D5}"/>
              </a:ext>
            </a:extLst>
          </p:cNvPr>
          <p:cNvCxnSpPr/>
          <p:nvPr/>
        </p:nvCxnSpPr>
        <p:spPr>
          <a:xfrm flipH="1">
            <a:off x="1938512" y="4535122"/>
            <a:ext cx="0" cy="130628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9870E68-2EA4-0B36-AEA4-96196A52C56E}"/>
              </a:ext>
            </a:extLst>
          </p:cNvPr>
          <p:cNvSpPr/>
          <p:nvPr/>
        </p:nvSpPr>
        <p:spPr>
          <a:xfrm>
            <a:off x="157162" y="3339567"/>
            <a:ext cx="4171949" cy="22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 2 (a): Establish Relation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F280FA-7CC3-1897-4795-95FB4C80AB39}"/>
              </a:ext>
            </a:extLst>
          </p:cNvPr>
          <p:cNvSpPr/>
          <p:nvPr/>
        </p:nvSpPr>
        <p:spPr>
          <a:xfrm>
            <a:off x="4962495" y="3238500"/>
            <a:ext cx="3676681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Step2(b): Creation of Table </a:t>
            </a:r>
          </a:p>
        </p:txBody>
      </p:sp>
    </p:spTree>
    <p:extLst>
      <p:ext uri="{BB962C8B-B14F-4D97-AF65-F5344CB8AC3E}">
        <p14:creationId xmlns:p14="http://schemas.microsoft.com/office/powerpoint/2010/main" val="166046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8" grpId="0" animBg="1"/>
      <p:bldP spid="19" grpId="0" animBg="1"/>
      <p:bldP spid="23" grpId="0" animBg="1"/>
      <p:bldP spid="33" grpId="0"/>
      <p:bldP spid="36" grpId="0"/>
      <p:bldP spid="40" grpId="0"/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E62E-466C-1751-1169-1ECC691B911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0733B-F802-B2BD-2E38-7F139A219A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</a:rPr>
                  <a:t>a </a:t>
                </a:r>
                <a:r>
                  <a:rPr lang="en-US" b="1" baseline="25000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&gt;b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𝑇𝑟𝑎𝑖𝑙𝑖𝑛𝑔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𝑁𝑇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600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</m:oMath>
                </a14:m>
                <a:endParaRPr lang="en-US" sz="2600" i="1" dirty="0"/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		          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+,∗,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 +</m:t>
                    </m:r>
                  </m:oMath>
                </a14:m>
                <a:endParaRPr lang="en-US" i="1" dirty="0"/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          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{∗,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&gt;∗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0733B-F802-B2BD-2E38-7F139A219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5C5FE5-3A11-8E1A-DEFE-590A4AD6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292529"/>
              </p:ext>
            </p:extLst>
          </p:nvPr>
        </p:nvGraphicFramePr>
        <p:xfrm>
          <a:off x="238113" y="148587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B7FCDC-D7F2-C837-1419-487AC8B2F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95642"/>
              </p:ext>
            </p:extLst>
          </p:nvPr>
        </p:nvGraphicFramePr>
        <p:xfrm>
          <a:off x="238113" y="185671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FF2FBD-48E9-B148-9ED7-001F56FAE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702547"/>
              </p:ext>
            </p:extLst>
          </p:nvPr>
        </p:nvGraphicFramePr>
        <p:xfrm>
          <a:off x="238113" y="2220887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3576D2-065D-C874-38C5-85DC7EF0B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39498"/>
              </p:ext>
            </p:extLst>
          </p:nvPr>
        </p:nvGraphicFramePr>
        <p:xfrm>
          <a:off x="238113" y="2585852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E691F11-3686-6E39-412C-A61742C44866}"/>
              </a:ext>
            </a:extLst>
          </p:cNvPr>
          <p:cNvSpPr/>
          <p:nvPr/>
        </p:nvSpPr>
        <p:spPr>
          <a:xfrm>
            <a:off x="6329340" y="120966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</a:rPr>
              <a:t>E</a:t>
            </a:r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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638AD2-A0C0-E07E-3D49-B0A8D9C1D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843033"/>
              </p:ext>
            </p:extLst>
          </p:nvPr>
        </p:nvGraphicFramePr>
        <p:xfrm>
          <a:off x="5105400" y="369846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C1AE466-F74E-F452-EC66-A36D89CAE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224842"/>
              </p:ext>
            </p:extLst>
          </p:nvPr>
        </p:nvGraphicFramePr>
        <p:xfrm>
          <a:off x="5105399" y="4062637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156985F-96D9-CF28-6B28-AC0412839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176850"/>
              </p:ext>
            </p:extLst>
          </p:nvPr>
        </p:nvGraphicFramePr>
        <p:xfrm>
          <a:off x="5105398" y="442528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349845-5189-0B6B-4E40-535C67113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840193"/>
              </p:ext>
            </p:extLst>
          </p:nvPr>
        </p:nvGraphicFramePr>
        <p:xfrm>
          <a:off x="5105397" y="4789458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7A1A759-96C2-F45C-1392-A972F3000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011152"/>
              </p:ext>
            </p:extLst>
          </p:nvPr>
        </p:nvGraphicFramePr>
        <p:xfrm>
          <a:off x="5105396" y="51505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15257D71-3C31-FC67-8193-B6D621EE0B92}"/>
              </a:ext>
            </a:extLst>
          </p:cNvPr>
          <p:cNvSpPr/>
          <p:nvPr/>
        </p:nvSpPr>
        <p:spPr>
          <a:xfrm>
            <a:off x="5867402" y="413090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EE1292-52B2-B0AB-1B2D-1457DE963FC3}"/>
              </a:ext>
            </a:extLst>
          </p:cNvPr>
          <p:cNvSpPr/>
          <p:nvPr/>
        </p:nvSpPr>
        <p:spPr>
          <a:xfrm>
            <a:off x="8053416" y="412596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BD3A4F-15EA-FCB9-5361-AD35D5EACFD9}"/>
              </a:ext>
            </a:extLst>
          </p:cNvPr>
          <p:cNvSpPr/>
          <p:nvPr/>
        </p:nvSpPr>
        <p:spPr>
          <a:xfrm>
            <a:off x="5834058" y="449762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E6B439-AE62-F703-5806-82E3FF8DB445}"/>
              </a:ext>
            </a:extLst>
          </p:cNvPr>
          <p:cNvSpPr/>
          <p:nvPr/>
        </p:nvSpPr>
        <p:spPr>
          <a:xfrm>
            <a:off x="6596061" y="449386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C0C233-9BFB-0778-FE7C-3D43F35BA986}"/>
              </a:ext>
            </a:extLst>
          </p:cNvPr>
          <p:cNvSpPr/>
          <p:nvPr/>
        </p:nvSpPr>
        <p:spPr>
          <a:xfrm>
            <a:off x="8020072" y="449268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C245A4-34FF-E87B-C8AF-E4D0424D22B4}"/>
              </a:ext>
            </a:extLst>
          </p:cNvPr>
          <p:cNvSpPr/>
          <p:nvPr/>
        </p:nvSpPr>
        <p:spPr>
          <a:xfrm>
            <a:off x="5834061" y="486910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05640B-9B17-696A-4B5B-5005E56729BD}"/>
              </a:ext>
            </a:extLst>
          </p:cNvPr>
          <p:cNvSpPr/>
          <p:nvPr/>
        </p:nvSpPr>
        <p:spPr>
          <a:xfrm>
            <a:off x="6596064" y="4865343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F31CFA-73BA-CF08-C7BC-80F80C5D03FA}"/>
              </a:ext>
            </a:extLst>
          </p:cNvPr>
          <p:cNvSpPr/>
          <p:nvPr/>
        </p:nvSpPr>
        <p:spPr>
          <a:xfrm>
            <a:off x="7358067" y="48653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E17327-E798-D2AD-F2FE-0BB66B75715B}"/>
              </a:ext>
            </a:extLst>
          </p:cNvPr>
          <p:cNvSpPr/>
          <p:nvPr/>
        </p:nvSpPr>
        <p:spPr>
          <a:xfrm>
            <a:off x="8020075" y="486415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81A512-5EB9-78B9-F931-7C6999CAFE01}"/>
              </a:ext>
            </a:extLst>
          </p:cNvPr>
          <p:cNvSpPr/>
          <p:nvPr/>
        </p:nvSpPr>
        <p:spPr>
          <a:xfrm>
            <a:off x="5834061" y="521200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16F9C1-B73E-7D9F-FB6C-D54D85601B3B}"/>
              </a:ext>
            </a:extLst>
          </p:cNvPr>
          <p:cNvSpPr/>
          <p:nvPr/>
        </p:nvSpPr>
        <p:spPr>
          <a:xfrm>
            <a:off x="6596064" y="52082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A2BB0E-A1C8-EC23-9C55-5DB3DE9EA9E6}"/>
              </a:ext>
            </a:extLst>
          </p:cNvPr>
          <p:cNvSpPr/>
          <p:nvPr/>
        </p:nvSpPr>
        <p:spPr>
          <a:xfrm>
            <a:off x="7358067" y="520824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269304-4E64-EAC1-52C4-DD9F801C7EA2}"/>
              </a:ext>
            </a:extLst>
          </p:cNvPr>
          <p:cNvSpPr/>
          <p:nvPr/>
        </p:nvSpPr>
        <p:spPr>
          <a:xfrm>
            <a:off x="8020075" y="5207057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23EF27-A85B-6D22-8D99-243A1A59F58D}"/>
              </a:ext>
            </a:extLst>
          </p:cNvPr>
          <p:cNvSpPr/>
          <p:nvPr/>
        </p:nvSpPr>
        <p:spPr>
          <a:xfrm>
            <a:off x="6792285" y="123964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  <a:sym typeface="Wingdings" panose="05000000000000000000" pitchFamily="2" charset="2"/>
              </a:rPr>
              <a:t> E+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A2274-52EA-32F9-2D20-2871F2A1A2AD}"/>
              </a:ext>
            </a:extLst>
          </p:cNvPr>
          <p:cNvSpPr/>
          <p:nvPr/>
        </p:nvSpPr>
        <p:spPr>
          <a:xfrm>
            <a:off x="7193174" y="123964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T| T</a:t>
            </a:r>
            <a:r>
              <a:rPr lang="en-US" sz="2200" b="1">
                <a:latin typeface="Palatino Linotype" panose="02040502050505030304" pitchFamily="18" charset="0"/>
              </a:rPr>
              <a:t>	</a:t>
            </a:r>
            <a:endParaRPr lang="en-US" sz="2200" b="1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686E70-5F66-5D86-8922-3B17BF05A36D}"/>
              </a:ext>
            </a:extLst>
          </p:cNvPr>
          <p:cNvSpPr/>
          <p:nvPr/>
        </p:nvSpPr>
        <p:spPr>
          <a:xfrm>
            <a:off x="6329340" y="154143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T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DAE65F-6BE8-553D-ABF6-08041DB407D2}"/>
              </a:ext>
            </a:extLst>
          </p:cNvPr>
          <p:cNvSpPr/>
          <p:nvPr/>
        </p:nvSpPr>
        <p:spPr>
          <a:xfrm>
            <a:off x="6851052" y="1557618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Palatino Linotype" panose="02040502050505030304" pitchFamily="18" charset="0"/>
              </a:rPr>
              <a:t>T*	</a:t>
            </a:r>
            <a:endParaRPr lang="en-US" sz="2200" b="1" dirty="0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D99216-99F0-A3A7-3674-FA694969C929}"/>
              </a:ext>
            </a:extLst>
          </p:cNvPr>
          <p:cNvSpPr/>
          <p:nvPr/>
        </p:nvSpPr>
        <p:spPr>
          <a:xfrm>
            <a:off x="7199328" y="154143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F| F</a:t>
            </a:r>
            <a:r>
              <a:rPr lang="en-US" sz="2200" b="1">
                <a:latin typeface="Palatino Linotype" panose="02040502050505030304" pitchFamily="18" charset="0"/>
              </a:rPr>
              <a:t>	</a:t>
            </a:r>
            <a:endParaRPr lang="en-US" sz="2200" b="1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A6DC19-744A-374F-7A27-BA7E16AEEF46}"/>
              </a:ext>
            </a:extLst>
          </p:cNvPr>
          <p:cNvSpPr/>
          <p:nvPr/>
        </p:nvSpPr>
        <p:spPr>
          <a:xfrm>
            <a:off x="6344039" y="185821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F id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F00B86-B06B-BA26-11E1-00688827B2E1}"/>
              </a:ext>
            </a:extLst>
          </p:cNvPr>
          <p:cNvCxnSpPr/>
          <p:nvPr/>
        </p:nvCxnSpPr>
        <p:spPr>
          <a:xfrm flipH="1">
            <a:off x="1908810" y="4209995"/>
            <a:ext cx="0" cy="130628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2F7D40F-0A00-B793-5009-DC5732A7771A}"/>
              </a:ext>
            </a:extLst>
          </p:cNvPr>
          <p:cNvSpPr/>
          <p:nvPr/>
        </p:nvSpPr>
        <p:spPr>
          <a:xfrm>
            <a:off x="0" y="945712"/>
            <a:ext cx="4576742" cy="349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1: Find Leading &amp; Trailing of 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50FFC0-2DDD-0D07-6AC6-092CFC65C663}"/>
              </a:ext>
            </a:extLst>
          </p:cNvPr>
          <p:cNvSpPr/>
          <p:nvPr/>
        </p:nvSpPr>
        <p:spPr>
          <a:xfrm>
            <a:off x="157162" y="3339567"/>
            <a:ext cx="4171949" cy="22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 2 (a): Establish Relation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D62856-D38C-5ECA-A155-79B7E1A1BCE2}"/>
              </a:ext>
            </a:extLst>
          </p:cNvPr>
          <p:cNvSpPr/>
          <p:nvPr/>
        </p:nvSpPr>
        <p:spPr>
          <a:xfrm>
            <a:off x="4962495" y="3238500"/>
            <a:ext cx="3676681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Step2(b): Creation of Table </a:t>
            </a:r>
          </a:p>
        </p:txBody>
      </p:sp>
    </p:spTree>
    <p:extLst>
      <p:ext uri="{BB962C8B-B14F-4D97-AF65-F5344CB8AC3E}">
        <p14:creationId xmlns:p14="http://schemas.microsoft.com/office/powerpoint/2010/main" val="346670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1" grpId="0" animBg="1"/>
      <p:bldP spid="22" grpId="0" animBg="1"/>
      <p:bldP spid="39" grpId="0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C846-8DBD-3979-3BFC-7AACDF0C9AB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Example: Operator precedence parsing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CF3696-7798-CD2E-6BAC-BA9E6E7C4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241357"/>
              </p:ext>
            </p:extLst>
          </p:nvPr>
        </p:nvGraphicFramePr>
        <p:xfrm>
          <a:off x="238113" y="148587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F6922C-F314-D6E2-D901-65768154D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07624"/>
              </p:ext>
            </p:extLst>
          </p:nvPr>
        </p:nvGraphicFramePr>
        <p:xfrm>
          <a:off x="238113" y="185671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73F691-6716-7E46-A32C-56A5146D0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577711"/>
              </p:ext>
            </p:extLst>
          </p:nvPr>
        </p:nvGraphicFramePr>
        <p:xfrm>
          <a:off x="238113" y="2220887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A98E9A-E65E-9F8C-302A-A65D91D77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76342"/>
              </p:ext>
            </p:extLst>
          </p:nvPr>
        </p:nvGraphicFramePr>
        <p:xfrm>
          <a:off x="238113" y="2585852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D8D3BF8-93FA-A7CB-123B-5D1E56C7F8E1}"/>
              </a:ext>
            </a:extLst>
          </p:cNvPr>
          <p:cNvSpPr/>
          <p:nvPr/>
        </p:nvSpPr>
        <p:spPr>
          <a:xfrm>
            <a:off x="6329340" y="120966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</a:rPr>
              <a:t>E</a:t>
            </a:r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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E70984-15A6-7A3E-604B-2E8C792B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043422"/>
              </p:ext>
            </p:extLst>
          </p:nvPr>
        </p:nvGraphicFramePr>
        <p:xfrm>
          <a:off x="5105400" y="369846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3255018-CDE0-89A9-60B3-AE54D4CE9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71582"/>
              </p:ext>
            </p:extLst>
          </p:nvPr>
        </p:nvGraphicFramePr>
        <p:xfrm>
          <a:off x="5105399" y="4062637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C5B29B-0DDB-0C28-B96A-15BCC603F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64476"/>
              </p:ext>
            </p:extLst>
          </p:nvPr>
        </p:nvGraphicFramePr>
        <p:xfrm>
          <a:off x="5105398" y="442528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4C01CB9-CB46-FB3C-DC51-DA153AE73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11170"/>
              </p:ext>
            </p:extLst>
          </p:nvPr>
        </p:nvGraphicFramePr>
        <p:xfrm>
          <a:off x="5105397" y="4789458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00667E-E1DA-C7BD-6B79-0B76C3C2D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48119"/>
              </p:ext>
            </p:extLst>
          </p:nvPr>
        </p:nvGraphicFramePr>
        <p:xfrm>
          <a:off x="5105396" y="51505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Accept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7D1DCB9-61AA-0DD3-D579-D633FE675AEC}"/>
              </a:ext>
            </a:extLst>
          </p:cNvPr>
          <p:cNvSpPr/>
          <p:nvPr/>
        </p:nvSpPr>
        <p:spPr>
          <a:xfrm>
            <a:off x="8000107" y="4133715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F2B415-87FD-2648-EB02-1E22F80C10C8}"/>
              </a:ext>
            </a:extLst>
          </p:cNvPr>
          <p:cNvSpPr/>
          <p:nvPr/>
        </p:nvSpPr>
        <p:spPr>
          <a:xfrm>
            <a:off x="7358067" y="48653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C483C2-8FF3-F38D-EC6C-D7C96069080F}"/>
              </a:ext>
            </a:extLst>
          </p:cNvPr>
          <p:cNvSpPr/>
          <p:nvPr/>
        </p:nvSpPr>
        <p:spPr>
          <a:xfrm>
            <a:off x="8020075" y="486415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3D462-0F02-4A16-9C34-4826819F66D5}"/>
              </a:ext>
            </a:extLst>
          </p:cNvPr>
          <p:cNvSpPr/>
          <p:nvPr/>
        </p:nvSpPr>
        <p:spPr>
          <a:xfrm>
            <a:off x="5869839" y="5224660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A2C27-B207-A2A3-C35D-CF500DC26C13}"/>
              </a:ext>
            </a:extLst>
          </p:cNvPr>
          <p:cNvSpPr/>
          <p:nvPr/>
        </p:nvSpPr>
        <p:spPr>
          <a:xfrm>
            <a:off x="8037297" y="5214425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4ACC23-44CC-F470-F20A-1A9ECD3F2979}"/>
              </a:ext>
            </a:extLst>
          </p:cNvPr>
          <p:cNvSpPr/>
          <p:nvPr/>
        </p:nvSpPr>
        <p:spPr>
          <a:xfrm>
            <a:off x="6792285" y="123964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 E+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40C23F-6FDA-65AE-14A0-63E5124F94C1}"/>
              </a:ext>
            </a:extLst>
          </p:cNvPr>
          <p:cNvSpPr/>
          <p:nvPr/>
        </p:nvSpPr>
        <p:spPr>
          <a:xfrm>
            <a:off x="7193174" y="123964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T| T</a:t>
            </a:r>
            <a:r>
              <a:rPr lang="en-US" sz="2200" b="1">
                <a:latin typeface="Palatino Linotype" panose="02040502050505030304" pitchFamily="18" charset="0"/>
              </a:rPr>
              <a:t>	</a:t>
            </a:r>
            <a:endParaRPr lang="en-US" sz="2200" b="1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3BAA8A-96D1-A321-7A7A-B3056570CC94}"/>
              </a:ext>
            </a:extLst>
          </p:cNvPr>
          <p:cNvSpPr/>
          <p:nvPr/>
        </p:nvSpPr>
        <p:spPr>
          <a:xfrm>
            <a:off x="6329340" y="154143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T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9AA266-B69B-2B17-F677-8DEFFFF33611}"/>
              </a:ext>
            </a:extLst>
          </p:cNvPr>
          <p:cNvSpPr/>
          <p:nvPr/>
        </p:nvSpPr>
        <p:spPr>
          <a:xfrm>
            <a:off x="6851052" y="1557618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</a:rPr>
              <a:t>T*	</a:t>
            </a:r>
            <a:endParaRPr lang="en-US" sz="2200" b="1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CC13B5-765B-22AF-33A4-BE6B0FE42319}"/>
              </a:ext>
            </a:extLst>
          </p:cNvPr>
          <p:cNvSpPr/>
          <p:nvPr/>
        </p:nvSpPr>
        <p:spPr>
          <a:xfrm>
            <a:off x="7199328" y="154143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F| F</a:t>
            </a:r>
            <a:r>
              <a:rPr lang="en-US" sz="2200" b="1">
                <a:latin typeface="Palatino Linotype" panose="02040502050505030304" pitchFamily="18" charset="0"/>
              </a:rPr>
              <a:t>	</a:t>
            </a:r>
            <a:endParaRPr lang="en-US" sz="2200" b="1">
              <a:latin typeface="Palatino Linotype" panose="02040502050505030304" pitchFamily="18" charset="0"/>
              <a:sym typeface="Wingdings" panose="05000000000000000000" pitchFamily="2" charset="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EA5516-8023-35A3-9C46-861304760BDB}"/>
              </a:ext>
            </a:extLst>
          </p:cNvPr>
          <p:cNvSpPr/>
          <p:nvPr/>
        </p:nvSpPr>
        <p:spPr>
          <a:xfrm>
            <a:off x="6344039" y="185821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latin typeface="Palatino Linotype" panose="02040502050505030304" pitchFamily="18" charset="0"/>
                <a:sym typeface="Wingdings" panose="05000000000000000000" pitchFamily="2" charset="2"/>
              </a:rPr>
              <a:t>F id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E6D1E9-447D-3FE8-11FE-601EEBCF44A5}"/>
              </a:ext>
            </a:extLst>
          </p:cNvPr>
          <p:cNvSpPr/>
          <p:nvPr/>
        </p:nvSpPr>
        <p:spPr>
          <a:xfrm>
            <a:off x="7351343" y="5223153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53A6F0-B3A2-416B-9EFA-7D5A5799FBF4}"/>
              </a:ext>
            </a:extLst>
          </p:cNvPr>
          <p:cNvSpPr/>
          <p:nvPr/>
        </p:nvSpPr>
        <p:spPr>
          <a:xfrm>
            <a:off x="6591751" y="5214965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31B88A-99C7-20AB-B35A-62AD02C456CC}"/>
              </a:ext>
            </a:extLst>
          </p:cNvPr>
          <p:cNvSpPr/>
          <p:nvPr/>
        </p:nvSpPr>
        <p:spPr>
          <a:xfrm>
            <a:off x="8053157" y="450187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532BDA-46BE-E5FE-6C46-391EF41B09F6}"/>
              </a:ext>
            </a:extLst>
          </p:cNvPr>
          <p:cNvSpPr/>
          <p:nvPr/>
        </p:nvSpPr>
        <p:spPr>
          <a:xfrm>
            <a:off x="16329" y="983333"/>
            <a:ext cx="4576742" cy="349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1: Find Leading &amp; Trailing of 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5C4748E-FFEA-A5C2-08A3-569CDA065404}"/>
                  </a:ext>
                </a:extLst>
              </p:cNvPr>
              <p:cNvSpPr/>
              <p:nvPr/>
            </p:nvSpPr>
            <p:spPr>
              <a:xfrm>
                <a:off x="157162" y="3874068"/>
                <a:ext cx="6096000" cy="1569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lvl="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sz="2400">
                    <a:solidFill>
                      <a:srgbClr val="C00000"/>
                    </a:solidFill>
                  </a:rPr>
                  <a:t>$&lt;</a:t>
                </a:r>
                <a:r>
                  <a:rPr lang="en-US" sz="2400" b="1" baseline="30000">
                    <a:solidFill>
                      <a:srgbClr val="C00000"/>
                    </a:solidFill>
                  </a:rPr>
                  <a:t>.</a:t>
                </a:r>
                <a:r>
                  <a:rPr lang="en-US" sz="2400">
                    <a:solidFill>
                      <a:srgbClr val="C00000"/>
                    </a:solidFill>
                  </a:rPr>
                  <a:t> Leading (start symbol)</a:t>
                </a:r>
              </a:p>
              <a:p>
                <a:pPr marL="457200" lvl="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sz="2400"/>
                  <a:t>$ &lt;</a:t>
                </a:r>
                <a:r>
                  <a:rPr lang="en-US" sz="2400" b="1" baseline="30000"/>
                  <a:t>.</a:t>
                </a:r>
                <a:r>
                  <a:rPr lang="en-US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+,∗,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</m:oMath>
                </a14:m>
                <a:endParaRPr lang="en-US" sz="2400">
                  <a:solidFill>
                    <a:srgbClr val="FF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sz="2400">
                    <a:solidFill>
                      <a:srgbClr val="C00000"/>
                    </a:solidFill>
                  </a:rPr>
                  <a:t>Trailing (start symbol)</a:t>
                </a:r>
                <a:r>
                  <a:rPr lang="en-US" sz="2400" b="1" baseline="25000">
                    <a:solidFill>
                      <a:srgbClr val="C00000"/>
                    </a:solidFill>
                  </a:rPr>
                  <a:t> .</a:t>
                </a:r>
                <a:r>
                  <a:rPr lang="en-US" sz="2400">
                    <a:solidFill>
                      <a:srgbClr val="C00000"/>
                    </a:solidFill>
                  </a:rPr>
                  <a:t>&gt; $ 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+,∗,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baseline="25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&gt; $</m:t>
                    </m:r>
                  </m:oMath>
                </a14:m>
                <a:endParaRPr lang="en-US"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5C4748E-FFEA-A5C2-08A3-569CDA0654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2" y="3874068"/>
                <a:ext cx="6096000" cy="1569660"/>
              </a:xfrm>
              <a:prstGeom prst="rect">
                <a:avLst/>
              </a:prstGeom>
              <a:blipFill>
                <a:blip r:embed="rId2"/>
                <a:stretch>
                  <a:fillRect l="-1600" t="-3891" b="-7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CA83EF0E-54D3-EB7D-5017-B771AF19683B}"/>
              </a:ext>
            </a:extLst>
          </p:cNvPr>
          <p:cNvSpPr/>
          <p:nvPr/>
        </p:nvSpPr>
        <p:spPr>
          <a:xfrm>
            <a:off x="157162" y="3339567"/>
            <a:ext cx="4171949" cy="22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 2 (a): Establish Relation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F373A9-D75B-1516-61F1-33228A074440}"/>
              </a:ext>
            </a:extLst>
          </p:cNvPr>
          <p:cNvSpPr/>
          <p:nvPr/>
        </p:nvSpPr>
        <p:spPr>
          <a:xfrm>
            <a:off x="4962495" y="3238500"/>
            <a:ext cx="3676681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Step2(b): Creation of Table </a:t>
            </a:r>
          </a:p>
        </p:txBody>
      </p:sp>
    </p:spTree>
    <p:extLst>
      <p:ext uri="{BB962C8B-B14F-4D97-AF65-F5344CB8AC3E}">
        <p14:creationId xmlns:p14="http://schemas.microsoft.com/office/powerpoint/2010/main" val="165128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26" grpId="0" animBg="1"/>
      <p:bldP spid="27" grpId="0" animBg="1"/>
      <p:bldP spid="28" grpId="0" animBg="1"/>
      <p:bldP spid="31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319C-7979-FC91-731B-6CC69C909CC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Example: Operator precedence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09B94-D3FE-CD7E-2093-C4E3A619EEC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Assign precedence operator between terminals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String:  </a:t>
            </a:r>
            <a:r>
              <a:rPr lang="en-US" b="1" dirty="0" err="1"/>
              <a:t>id+id</a:t>
            </a:r>
            <a:r>
              <a:rPr lang="en-US" b="1" dirty="0"/>
              <a:t>*id	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$ </a:t>
            </a:r>
            <a:r>
              <a:rPr lang="en-US" dirty="0" err="1"/>
              <a:t>id+id</a:t>
            </a:r>
            <a:r>
              <a:rPr lang="en-US" dirty="0"/>
              <a:t>*id 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$ &lt;</a:t>
            </a:r>
            <a:r>
              <a:rPr lang="en-US" baseline="30000" dirty="0"/>
              <a:t>. </a:t>
            </a:r>
            <a:r>
              <a:rPr lang="en-US" dirty="0" err="1"/>
              <a:t>id+id</a:t>
            </a:r>
            <a:r>
              <a:rPr lang="en-US" dirty="0"/>
              <a:t>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$ &lt;</a:t>
            </a:r>
            <a:r>
              <a:rPr lang="en-US" baseline="30000" dirty="0"/>
              <a:t>. </a:t>
            </a:r>
            <a:r>
              <a:rPr lang="en-US" dirty="0"/>
              <a:t>id </a:t>
            </a:r>
            <a:r>
              <a:rPr lang="en-US" baseline="30000" dirty="0"/>
              <a:t>.</a:t>
            </a:r>
            <a:r>
              <a:rPr lang="en-US" dirty="0"/>
              <a:t>&gt; +id*id$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$ &lt;</a:t>
            </a:r>
            <a:r>
              <a:rPr lang="en-US" baseline="30000" dirty="0"/>
              <a:t>. </a:t>
            </a:r>
            <a:r>
              <a:rPr lang="en-US" dirty="0"/>
              <a:t>id </a:t>
            </a:r>
            <a:r>
              <a:rPr lang="en-US" baseline="30000" dirty="0"/>
              <a:t>.</a:t>
            </a:r>
            <a:r>
              <a:rPr lang="en-US" dirty="0"/>
              <a:t>&gt; + &lt;</a:t>
            </a:r>
            <a:r>
              <a:rPr lang="en-US" baseline="30000" dirty="0"/>
              <a:t>.  </a:t>
            </a:r>
            <a:r>
              <a:rPr lang="en-US" dirty="0"/>
              <a:t>id*id$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$ &lt;</a:t>
            </a:r>
            <a:r>
              <a:rPr lang="en-US" baseline="30000" dirty="0"/>
              <a:t>. </a:t>
            </a:r>
            <a:r>
              <a:rPr lang="en-US" dirty="0"/>
              <a:t>id </a:t>
            </a:r>
            <a:r>
              <a:rPr lang="en-US" baseline="30000" dirty="0"/>
              <a:t>.</a:t>
            </a:r>
            <a:r>
              <a:rPr lang="en-US" dirty="0"/>
              <a:t>&gt; + &lt;</a:t>
            </a:r>
            <a:r>
              <a:rPr lang="en-US" baseline="30000" dirty="0"/>
              <a:t>.  </a:t>
            </a:r>
            <a:r>
              <a:rPr lang="en-US" dirty="0"/>
              <a:t>id</a:t>
            </a:r>
            <a:r>
              <a:rPr lang="en-US" baseline="30000" dirty="0"/>
              <a:t> .</a:t>
            </a:r>
            <a:r>
              <a:rPr lang="en-US" dirty="0"/>
              <a:t>&gt; 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$ &lt;</a:t>
            </a:r>
            <a:r>
              <a:rPr lang="en-US" baseline="30000" dirty="0"/>
              <a:t>. </a:t>
            </a:r>
            <a:r>
              <a:rPr lang="en-US" dirty="0"/>
              <a:t>id </a:t>
            </a:r>
            <a:r>
              <a:rPr lang="en-US" baseline="30000" dirty="0"/>
              <a:t>.</a:t>
            </a:r>
            <a:r>
              <a:rPr lang="en-US" dirty="0"/>
              <a:t>&gt; + &lt;</a:t>
            </a:r>
            <a:r>
              <a:rPr lang="en-US" baseline="30000" dirty="0"/>
              <a:t>.  </a:t>
            </a:r>
            <a:r>
              <a:rPr lang="en-US" dirty="0"/>
              <a:t>id</a:t>
            </a:r>
            <a:r>
              <a:rPr lang="en-US" baseline="30000" dirty="0"/>
              <a:t> .</a:t>
            </a:r>
            <a:r>
              <a:rPr lang="en-US" dirty="0"/>
              <a:t>&gt; *&lt;</a:t>
            </a:r>
            <a:r>
              <a:rPr lang="en-US" baseline="30000" dirty="0"/>
              <a:t>. </a:t>
            </a:r>
            <a:r>
              <a:rPr lang="en-US" dirty="0"/>
              <a:t>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$ &lt;</a:t>
            </a:r>
            <a:r>
              <a:rPr lang="en-US" baseline="30000" dirty="0"/>
              <a:t>. </a:t>
            </a:r>
            <a:r>
              <a:rPr lang="en-US" dirty="0"/>
              <a:t>id </a:t>
            </a:r>
            <a:r>
              <a:rPr lang="en-US" baseline="30000" dirty="0"/>
              <a:t>.</a:t>
            </a:r>
            <a:r>
              <a:rPr lang="en-US" dirty="0"/>
              <a:t>&gt; + &lt;</a:t>
            </a:r>
            <a:r>
              <a:rPr lang="en-US" baseline="30000" dirty="0"/>
              <a:t>.  </a:t>
            </a:r>
            <a:r>
              <a:rPr lang="en-US" dirty="0"/>
              <a:t>id</a:t>
            </a:r>
            <a:r>
              <a:rPr lang="en-US" baseline="30000" dirty="0"/>
              <a:t> .</a:t>
            </a:r>
            <a:r>
              <a:rPr lang="en-US" dirty="0"/>
              <a:t>&gt; *&lt;</a:t>
            </a:r>
            <a:r>
              <a:rPr lang="en-US" baseline="30000" dirty="0"/>
              <a:t>. </a:t>
            </a:r>
            <a:r>
              <a:rPr lang="en-US" dirty="0"/>
              <a:t>id</a:t>
            </a:r>
            <a:r>
              <a:rPr lang="en-US" baseline="30000" dirty="0"/>
              <a:t> .</a:t>
            </a:r>
            <a:r>
              <a:rPr lang="en-US" dirty="0"/>
              <a:t>&gt; $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615146-597F-3BAF-1712-3B4D277BC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37684"/>
              </p:ext>
            </p:extLst>
          </p:nvPr>
        </p:nvGraphicFramePr>
        <p:xfrm>
          <a:off x="7635941" y="2160243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41F7-C8BA-28A2-518C-CCD7DB7CB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557782"/>
              </p:ext>
            </p:extLst>
          </p:nvPr>
        </p:nvGraphicFramePr>
        <p:xfrm>
          <a:off x="7635940" y="2524415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DAEEFE-81C9-388A-E396-F083161AD089}"/>
              </a:ext>
            </a:extLst>
          </p:cNvPr>
          <p:cNvCxnSpPr/>
          <p:nvPr/>
        </p:nvCxnSpPr>
        <p:spPr>
          <a:xfrm>
            <a:off x="304800" y="2845593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C19E2D-2F4F-9D93-BB3E-9F3D256318CF}"/>
              </a:ext>
            </a:extLst>
          </p:cNvPr>
          <p:cNvCxnSpPr/>
          <p:nvPr/>
        </p:nvCxnSpPr>
        <p:spPr>
          <a:xfrm>
            <a:off x="883133" y="3289634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45FE05-EF60-4904-C0DD-5FE64F1F043E}"/>
              </a:ext>
            </a:extLst>
          </p:cNvPr>
          <p:cNvCxnSpPr/>
          <p:nvPr/>
        </p:nvCxnSpPr>
        <p:spPr>
          <a:xfrm>
            <a:off x="1539740" y="3857186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1293B8-C5FD-9433-E7EB-7E12817CABC3}"/>
              </a:ext>
            </a:extLst>
          </p:cNvPr>
          <p:cNvCxnSpPr/>
          <p:nvPr/>
        </p:nvCxnSpPr>
        <p:spPr>
          <a:xfrm>
            <a:off x="2307455" y="4356375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2D3584-06E6-F97B-7DF6-2ED4F703C05D}"/>
              </a:ext>
            </a:extLst>
          </p:cNvPr>
          <p:cNvCxnSpPr/>
          <p:nvPr/>
        </p:nvCxnSpPr>
        <p:spPr>
          <a:xfrm>
            <a:off x="2827822" y="4804597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1FCE10-EB2C-6769-80FF-7F982E80C3FF}"/>
              </a:ext>
            </a:extLst>
          </p:cNvPr>
          <p:cNvCxnSpPr/>
          <p:nvPr/>
        </p:nvCxnSpPr>
        <p:spPr>
          <a:xfrm>
            <a:off x="3457067" y="5393903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2D1D8-1B14-E7B3-E4B8-0764BC607A20}"/>
              </a:ext>
            </a:extLst>
          </p:cNvPr>
          <p:cNvSpPr/>
          <p:nvPr/>
        </p:nvSpPr>
        <p:spPr>
          <a:xfrm>
            <a:off x="-1" y="950597"/>
            <a:ext cx="6486525" cy="349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 3(A): Parse the string using precedence table </a:t>
            </a:r>
          </a:p>
        </p:txBody>
      </p:sp>
    </p:spTree>
    <p:extLst>
      <p:ext uri="{BB962C8B-B14F-4D97-AF65-F5344CB8AC3E}">
        <p14:creationId xmlns:p14="http://schemas.microsoft.com/office/powerpoint/2010/main" val="218339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C785-344D-856B-18A4-BD300CEFD4F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0D8364F-A93B-FBEF-ABFF-2217CDD009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169218"/>
              </p:ext>
            </p:extLst>
          </p:nvPr>
        </p:nvGraphicFramePr>
        <p:xfrm>
          <a:off x="678287" y="2170131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+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*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Handle id is obtained between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this by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02BFC3-C799-C6BE-2920-5A907F1C8390}"/>
              </a:ext>
            </a:extLst>
          </p:cNvPr>
          <p:cNvCxnSpPr/>
          <p:nvPr/>
        </p:nvCxnSpPr>
        <p:spPr>
          <a:xfrm>
            <a:off x="1433589" y="2488999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C39F8B-288C-1D57-527C-57F8FF2552E4}"/>
              </a:ext>
            </a:extLst>
          </p:cNvPr>
          <p:cNvCxnSpPr/>
          <p:nvPr/>
        </p:nvCxnSpPr>
        <p:spPr>
          <a:xfrm rot="10800000">
            <a:off x="1391385" y="2593335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31C7E50-DE90-4B1F-5637-1A0AC9A35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436962"/>
              </p:ext>
            </p:extLst>
          </p:nvPr>
        </p:nvGraphicFramePr>
        <p:xfrm>
          <a:off x="678287" y="2717599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F +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*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Handle id is obtained between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this by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3C1697F-72B8-099D-979E-7E22C1E9C2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963306"/>
              </p:ext>
            </p:extLst>
          </p:nvPr>
        </p:nvGraphicFramePr>
        <p:xfrm>
          <a:off x="678287" y="3265067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F + F *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Handle id is obtained between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this by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9951687-E5A2-9D4C-345F-C696406380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031910"/>
              </p:ext>
            </p:extLst>
          </p:nvPr>
        </p:nvGraphicFramePr>
        <p:xfrm>
          <a:off x="678287" y="3812535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F + F * F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appropriate reductions of all nonterminals.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7479FB-AABA-773E-7492-FED1A414528F}"/>
              </a:ext>
            </a:extLst>
          </p:cNvPr>
          <p:cNvCxnSpPr/>
          <p:nvPr/>
        </p:nvCxnSpPr>
        <p:spPr>
          <a:xfrm>
            <a:off x="1745087" y="3036467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960858-FA0D-F969-6C44-5E13867C0253}"/>
              </a:ext>
            </a:extLst>
          </p:cNvPr>
          <p:cNvCxnSpPr/>
          <p:nvPr/>
        </p:nvCxnSpPr>
        <p:spPr>
          <a:xfrm rot="10800000">
            <a:off x="1716951" y="3160731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88497A-B256-7BDA-9234-E3C516EC2AB8}"/>
              </a:ext>
            </a:extLst>
          </p:cNvPr>
          <p:cNvCxnSpPr/>
          <p:nvPr/>
        </p:nvCxnSpPr>
        <p:spPr>
          <a:xfrm>
            <a:off x="2108507" y="3582771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9A2107-8EB5-FBDB-1746-EC1F072520C8}"/>
              </a:ext>
            </a:extLst>
          </p:cNvPr>
          <p:cNvCxnSpPr/>
          <p:nvPr/>
        </p:nvCxnSpPr>
        <p:spPr>
          <a:xfrm rot="10800000">
            <a:off x="2080371" y="3707035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B110E4-794F-7F47-AEB5-348A9EC07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39683"/>
              </p:ext>
            </p:extLst>
          </p:nvPr>
        </p:nvGraphicFramePr>
        <p:xfrm>
          <a:off x="678287" y="4179467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E + T * F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Remove all non terminals.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C0A94BE-E91F-534F-9653-823F11623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904791"/>
              </p:ext>
            </p:extLst>
          </p:nvPr>
        </p:nvGraphicFramePr>
        <p:xfrm>
          <a:off x="686495" y="4546399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 +  * 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Place relation between  operators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6050B58-FF95-D956-74D8-9E5A4CC2A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0269"/>
              </p:ext>
            </p:extLst>
          </p:nvPr>
        </p:nvGraphicFramePr>
        <p:xfrm>
          <a:off x="678287" y="4913331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* &gt;$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* operator is surrounded by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&gt;. This indicates * becomes handle so reduce by T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T*F.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5C1CC47-CEA3-C756-6FDB-2625B27F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817520"/>
              </p:ext>
            </p:extLst>
          </p:nvPr>
        </p:nvGraphicFramePr>
        <p:xfrm>
          <a:off x="678287" y="5463147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 &gt;$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 becomes handle. Hence reduce by 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E+T. </a:t>
                      </a:r>
                    </a:p>
                    <a:p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C012ED-9D90-3130-7C07-5D50FC7D9052}"/>
              </a:ext>
            </a:extLst>
          </p:cNvPr>
          <p:cNvCxnSpPr/>
          <p:nvPr/>
        </p:nvCxnSpPr>
        <p:spPr>
          <a:xfrm>
            <a:off x="1782595" y="5226379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D44A87-E2E8-49D8-1AEB-EE14AD861368}"/>
              </a:ext>
            </a:extLst>
          </p:cNvPr>
          <p:cNvCxnSpPr/>
          <p:nvPr/>
        </p:nvCxnSpPr>
        <p:spPr>
          <a:xfrm rot="10800000">
            <a:off x="1754459" y="5350643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ED66DC-0CB6-4034-1B4A-DF7A4CB17953}"/>
              </a:ext>
            </a:extLst>
          </p:cNvPr>
          <p:cNvCxnSpPr/>
          <p:nvPr/>
        </p:nvCxnSpPr>
        <p:spPr>
          <a:xfrm>
            <a:off x="1400411" y="5772683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E05797-CB68-B203-5C40-E19823D62435}"/>
              </a:ext>
            </a:extLst>
          </p:cNvPr>
          <p:cNvCxnSpPr/>
          <p:nvPr/>
        </p:nvCxnSpPr>
        <p:spPr>
          <a:xfrm rot="10800000">
            <a:off x="1376461" y="5896947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F14E79E-CB96-A58C-6FD0-CF9A67CE0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540"/>
              </p:ext>
            </p:extLst>
          </p:nvPr>
        </p:nvGraphicFramePr>
        <p:xfrm>
          <a:off x="678287" y="6008267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$  $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Parsing Done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4219BA1-EEA2-F525-B99C-FEE93ED3698D}"/>
              </a:ext>
            </a:extLst>
          </p:cNvPr>
          <p:cNvSpPr/>
          <p:nvPr/>
        </p:nvSpPr>
        <p:spPr>
          <a:xfrm>
            <a:off x="3986354" y="2206191"/>
            <a:ext cx="5081125" cy="500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78EEB3-C0CE-AD00-E1A5-53CF1DA11222}"/>
              </a:ext>
            </a:extLst>
          </p:cNvPr>
          <p:cNvSpPr/>
          <p:nvPr/>
        </p:nvSpPr>
        <p:spPr>
          <a:xfrm>
            <a:off x="3986354" y="2743092"/>
            <a:ext cx="5081125" cy="505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E3082-E033-A3C5-10AA-148B2CB96AB0}"/>
              </a:ext>
            </a:extLst>
          </p:cNvPr>
          <p:cNvSpPr/>
          <p:nvPr/>
        </p:nvSpPr>
        <p:spPr>
          <a:xfrm>
            <a:off x="4015855" y="3281935"/>
            <a:ext cx="5081125" cy="514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5F1461-1303-3618-2869-23B917108296}"/>
              </a:ext>
            </a:extLst>
          </p:cNvPr>
          <p:cNvSpPr/>
          <p:nvPr/>
        </p:nvSpPr>
        <p:spPr>
          <a:xfrm>
            <a:off x="4097060" y="3850395"/>
            <a:ext cx="5081125" cy="283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5FDC90-9459-B03F-5A1D-B894CF32D2F7}"/>
              </a:ext>
            </a:extLst>
          </p:cNvPr>
          <p:cNvSpPr/>
          <p:nvPr/>
        </p:nvSpPr>
        <p:spPr>
          <a:xfrm>
            <a:off x="3986357" y="4224419"/>
            <a:ext cx="5081125" cy="260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C7C050-D628-BAD0-12EC-2D516D018665}"/>
              </a:ext>
            </a:extLst>
          </p:cNvPr>
          <p:cNvSpPr/>
          <p:nvPr/>
        </p:nvSpPr>
        <p:spPr>
          <a:xfrm>
            <a:off x="4160972" y="4587685"/>
            <a:ext cx="5081125" cy="260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07B4D0-5BF7-B215-FBDA-654611B66440}"/>
              </a:ext>
            </a:extLst>
          </p:cNvPr>
          <p:cNvSpPr/>
          <p:nvPr/>
        </p:nvSpPr>
        <p:spPr>
          <a:xfrm>
            <a:off x="4097060" y="4944409"/>
            <a:ext cx="5081125" cy="50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02D81C-DDDC-E0F2-4E25-AEF9ABFA4EF9}"/>
              </a:ext>
            </a:extLst>
          </p:cNvPr>
          <p:cNvSpPr/>
          <p:nvPr/>
        </p:nvSpPr>
        <p:spPr>
          <a:xfrm>
            <a:off x="4196876" y="5508276"/>
            <a:ext cx="5081125" cy="470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E149E7-2714-C3B3-F164-54051FEABC96}"/>
              </a:ext>
            </a:extLst>
          </p:cNvPr>
          <p:cNvSpPr/>
          <p:nvPr/>
        </p:nvSpPr>
        <p:spPr>
          <a:xfrm>
            <a:off x="4055362" y="6049905"/>
            <a:ext cx="5081125" cy="260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27678D-2DE3-0F86-704A-85EC4A59A510}"/>
              </a:ext>
            </a:extLst>
          </p:cNvPr>
          <p:cNvSpPr/>
          <p:nvPr/>
        </p:nvSpPr>
        <p:spPr>
          <a:xfrm>
            <a:off x="438803" y="807461"/>
            <a:ext cx="6512066" cy="344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 3(B): Parse the string using precedence table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F9AF23-CDB3-FFED-101A-577B23949F9C}"/>
              </a:ext>
            </a:extLst>
          </p:cNvPr>
          <p:cNvSpPr/>
          <p:nvPr/>
        </p:nvSpPr>
        <p:spPr>
          <a:xfrm>
            <a:off x="686495" y="1165355"/>
            <a:ext cx="63925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Scan the input string until first </a:t>
            </a:r>
            <a:r>
              <a:rPr lang="en-US" sz="2000" baseline="30000" dirty="0"/>
              <a:t>.</a:t>
            </a:r>
            <a:r>
              <a:rPr lang="en-US" sz="2000" dirty="0"/>
              <a:t>&gt; is encountered.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Scan backward until &lt;</a:t>
            </a:r>
            <a:r>
              <a:rPr lang="en-US" sz="2000" baseline="30000" dirty="0"/>
              <a:t>. </a:t>
            </a:r>
            <a:r>
              <a:rPr lang="en-US" sz="2000" dirty="0"/>
              <a:t>is encountered.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The handle is string between &lt;</a:t>
            </a:r>
            <a:r>
              <a:rPr lang="en-US" sz="2000" baseline="30000" dirty="0"/>
              <a:t>. </a:t>
            </a:r>
            <a:r>
              <a:rPr lang="en-US" sz="2000" dirty="0"/>
              <a:t>and  </a:t>
            </a:r>
            <a:r>
              <a:rPr lang="en-US" sz="2000" baseline="30000" dirty="0"/>
              <a:t>.</a:t>
            </a:r>
            <a:r>
              <a:rPr lang="en-US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657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DAD6C0-B7EC-A7B1-02AC-5669AFE95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204" t="81830" r="5372" b="1115"/>
          <a:stretch/>
        </p:blipFill>
        <p:spPr>
          <a:xfrm>
            <a:off x="-1" y="4443363"/>
            <a:ext cx="6443663" cy="1677217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C5FE3A9-8570-A4C9-9827-44ABC9241A4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Example: Operator precedence parsing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4E3A95-0268-6EC3-C818-BB298AFE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67" r="877" b="26003"/>
          <a:stretch/>
        </p:blipFill>
        <p:spPr>
          <a:xfrm>
            <a:off x="6522243" y="711201"/>
            <a:ext cx="5500688" cy="598249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631F62-BE34-176A-1B31-67196A1C6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42437"/>
              </p:ext>
            </p:extLst>
          </p:nvPr>
        </p:nvGraphicFramePr>
        <p:xfrm>
          <a:off x="606491" y="1621208"/>
          <a:ext cx="447985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852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9342DD-C48A-2D12-9771-657067946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661119"/>
              </p:ext>
            </p:extLst>
          </p:nvPr>
        </p:nvGraphicFramePr>
        <p:xfrm>
          <a:off x="606490" y="1985380"/>
          <a:ext cx="4479859" cy="20151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852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7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7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9CBC2B5-67F3-88E7-7F14-054A690643B7}"/>
              </a:ext>
            </a:extLst>
          </p:cNvPr>
          <p:cNvSpPr/>
          <p:nvPr/>
        </p:nvSpPr>
        <p:spPr>
          <a:xfrm>
            <a:off x="-1" y="950597"/>
            <a:ext cx="6486525" cy="349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</a:rPr>
              <a:t>Step 3: Parse the string using precedence table </a:t>
            </a:r>
          </a:p>
        </p:txBody>
      </p:sp>
    </p:spTree>
    <p:extLst>
      <p:ext uri="{BB962C8B-B14F-4D97-AF65-F5344CB8AC3E}">
        <p14:creationId xmlns:p14="http://schemas.microsoft.com/office/powerpoint/2010/main" val="260651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6BC7-D59A-6D7D-B78C-A828CC75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77" y="0"/>
            <a:ext cx="10515600" cy="1325563"/>
          </a:xfrm>
        </p:spPr>
        <p:txBody>
          <a:bodyPr/>
          <a:lstStyle/>
          <a:p>
            <a:r>
              <a:rPr lang="en-IN" dirty="0"/>
              <a:t>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E1DD-CF9D-91F6-80C3-63DC670D0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5896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000099"/>
                </a:solidFill>
              </a:rPr>
              <a:t>Disadvantage of precedence table 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If we have ‘n’ operators then size of table will be n*n and complexity will be O(n</a:t>
            </a:r>
            <a:r>
              <a:rPr lang="en-US" sz="2800" baseline="30000" dirty="0"/>
              <a:t>2</a:t>
            </a:r>
            <a:r>
              <a:rPr lang="en-US" sz="2800" dirty="0"/>
              <a:t>). 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In order to decrease the size of table, we use operator function table.</a:t>
            </a:r>
          </a:p>
          <a:p>
            <a:pPr lvl="1">
              <a:lnSpc>
                <a:spcPct val="110000"/>
              </a:lnSpc>
            </a:pPr>
            <a:endParaRPr lang="en-US" sz="2800" dirty="0"/>
          </a:p>
          <a:p>
            <a:pPr>
              <a:lnSpc>
                <a:spcPct val="110000"/>
              </a:lnSpc>
            </a:pPr>
            <a:r>
              <a:rPr lang="en-IN" sz="3200" dirty="0">
                <a:solidFill>
                  <a:srgbClr val="FF0000"/>
                </a:solidFill>
              </a:rPr>
              <a:t>Precedence function</a:t>
            </a:r>
          </a:p>
          <a:p>
            <a:pPr lvl="1">
              <a:lnSpc>
                <a:spcPct val="110000"/>
              </a:lnSpc>
            </a:pPr>
            <a:r>
              <a:rPr lang="en-IN" sz="2800" dirty="0"/>
              <a:t>Used to store pr</a:t>
            </a:r>
            <a:r>
              <a:rPr lang="en-IN" sz="2800" dirty="0">
                <a:solidFill>
                  <a:srgbClr val="000099"/>
                </a:solidFill>
              </a:rPr>
              <a:t>ecedence relation into encoded form</a:t>
            </a:r>
          </a:p>
          <a:p>
            <a:pPr lvl="1">
              <a:lnSpc>
                <a:spcPct val="110000"/>
              </a:lnSpc>
            </a:pPr>
            <a:r>
              <a:rPr lang="en-IN" sz="2800" dirty="0">
                <a:solidFill>
                  <a:srgbClr val="000099"/>
                </a:solidFill>
              </a:rPr>
              <a:t>Two functions ‘f’ and ‘g’ are used to map terminal symbols into integers</a:t>
            </a:r>
          </a:p>
          <a:p>
            <a:pPr lvl="1">
              <a:lnSpc>
                <a:spcPct val="110000"/>
              </a:lnSpc>
            </a:pPr>
            <a:r>
              <a:rPr lang="en-IN" sz="2800" dirty="0"/>
              <a:t>There exists symbols ‘f</a:t>
            </a:r>
            <a:r>
              <a:rPr lang="en-IN" sz="2800" baseline="-25000" dirty="0"/>
              <a:t>a</a:t>
            </a:r>
            <a:r>
              <a:rPr lang="en-IN" sz="2800" dirty="0"/>
              <a:t>’ and ‘g</a:t>
            </a:r>
            <a:r>
              <a:rPr lang="en-IN" sz="2800" baseline="-25000" dirty="0"/>
              <a:t>a</a:t>
            </a:r>
            <a:r>
              <a:rPr lang="en-IN" sz="2800" dirty="0"/>
              <a:t>’ for each terminal ‘a’</a:t>
            </a:r>
          </a:p>
          <a:p>
            <a:pPr lvl="1">
              <a:lnSpc>
                <a:spcPct val="110000"/>
              </a:lnSpc>
            </a:pPr>
            <a:r>
              <a:rPr lang="en-US" sz="2800" dirty="0"/>
              <a:t>The precedence relations between the symbols are implemented by numerical comparison</a:t>
            </a:r>
            <a:endParaRPr lang="en-IN" sz="2800" dirty="0"/>
          </a:p>
          <a:p>
            <a:pPr>
              <a:lnSpc>
                <a:spcPct val="110000"/>
              </a:lnSpc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212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7C6B-2960-119E-5A71-999688DD35D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AD8B9F-9B76-788A-D9DA-11AA0653CD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sz="2300" b="1" dirty="0">
                    <a:solidFill>
                      <a:srgbClr val="0E47A1"/>
                    </a:solidFill>
                  </a:rPr>
                  <a:t>Algorithm for constructing precedence functions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/>
                  <a:t>Create functions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 dirty="0"/>
                  <a:t> 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 dirty="0"/>
                  <a:t> for each </a:t>
                </a:r>
                <a14:m>
                  <m:oMath xmlns:m="http://schemas.openxmlformats.org/officeDocument/2006/math">
                    <m:r>
                      <a:rPr lang="en-IN" sz="2300" b="0" i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230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300" dirty="0"/>
                  <a:t>’ that is terminal or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/>
                  <a:t>Partition the symbols in as many as groups possible, in such a way that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 dirty="0"/>
                  <a:t> 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 dirty="0"/>
                  <a:t> are in the same group if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/>
                  <a:t>Create a directed graph whose nodes are in the groups, next for each symbols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 dirty="0"/>
                  <a:t>do: </a:t>
                </a:r>
              </a:p>
              <a:p>
                <a:pPr marL="1090613" lvl="4" indent="-344488">
                  <a:buFont typeface="+mj-lt"/>
                  <a:buAutoNum type="alphaLcParenR"/>
                </a:pPr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&lt;·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 dirty="0"/>
                  <a:t>, place an edge from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 dirty="0"/>
                  <a:t> to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300" dirty="0"/>
              </a:p>
              <a:p>
                <a:pPr marL="1090613" lvl="4" indent="-344488">
                  <a:buFont typeface="+mj-lt"/>
                  <a:buAutoNum type="alphaLcParenR"/>
                </a:pPr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·&gt;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 dirty="0"/>
                  <a:t>, place an edge from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 dirty="0"/>
                  <a:t> to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3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/>
                  <a:t>If the constructed graph has a cycle then no precedence functions exist. When there are no cycles collect the length of the longest paths from the groups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 dirty="0"/>
                  <a:t>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 dirty="0"/>
                  <a:t>respectively.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AD8B9F-9B76-788A-D9DA-11AA0653C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1527" r="-7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616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B7C16-3B2E-B0D4-8F82-9B1F4B84AC8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B1038-7540-4B4C-A150-37B7FF01FF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Create functions f</a:t>
                </a:r>
                <a:r>
                  <a:rPr lang="en-US" baseline="-25000"/>
                  <a:t>a</a:t>
                </a:r>
                <a:r>
                  <a:rPr lang="en-US"/>
                  <a:t> and g</a:t>
                </a:r>
                <a:r>
                  <a:rPr lang="en-US" baseline="-25000" err="1"/>
                  <a:t>a</a:t>
                </a:r>
                <a:r>
                  <a:rPr lang="en-US"/>
                  <a:t> for each a that is terminal or $.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/>
                  <a:t>	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/>
                  <a:t>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{+,∗,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$</m:t>
                    </m:r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B1038-7540-4B4C-A150-37B7FF01F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26318C7-C26A-E3C9-3C40-BE169CCE7861}"/>
              </a:ext>
            </a:extLst>
          </p:cNvPr>
          <p:cNvSpPr/>
          <p:nvPr/>
        </p:nvSpPr>
        <p:spPr>
          <a:xfrm>
            <a:off x="10337006" y="863444"/>
            <a:ext cx="172381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E47A1"/>
                </a:solidFill>
              </a:rPr>
              <a:t>E</a:t>
            </a:r>
            <a:r>
              <a:rPr lang="en-US" sz="2200" b="1" dirty="0">
                <a:solidFill>
                  <a:srgbClr val="0E47A1"/>
                </a:solidFill>
                <a:sym typeface="Wingdings" panose="05000000000000000000" pitchFamily="2" charset="2"/>
              </a:rPr>
              <a:t> E+T | T</a:t>
            </a:r>
          </a:p>
          <a:p>
            <a:r>
              <a:rPr lang="en-US" sz="2200" b="1" dirty="0">
                <a:solidFill>
                  <a:srgbClr val="0E47A1"/>
                </a:solidFill>
                <a:sym typeface="Wingdings" panose="05000000000000000000" pitchFamily="2" charset="2"/>
              </a:rPr>
              <a:t>T T*F | F</a:t>
            </a:r>
          </a:p>
          <a:p>
            <a:r>
              <a:rPr lang="en-US" sz="2200" b="1" dirty="0">
                <a:solidFill>
                  <a:srgbClr val="0E47A1"/>
                </a:solidFill>
                <a:sym typeface="Wingdings" panose="05000000000000000000" pitchFamily="2" charset="2"/>
              </a:rPr>
              <a:t>F id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70ABDF-851E-6D8C-AF28-621587083D25}"/>
              </a:ext>
            </a:extLst>
          </p:cNvPr>
          <p:cNvSpPr/>
          <p:nvPr/>
        </p:nvSpPr>
        <p:spPr>
          <a:xfrm>
            <a:off x="2209267" y="33047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+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FEBF3E-3874-3323-D871-772AF9611A72}"/>
              </a:ext>
            </a:extLst>
          </p:cNvPr>
          <p:cNvSpPr/>
          <p:nvPr/>
        </p:nvSpPr>
        <p:spPr>
          <a:xfrm>
            <a:off x="3572659" y="32766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B36633-9E97-F312-A0AF-C9BF1A0D6812}"/>
              </a:ext>
            </a:extLst>
          </p:cNvPr>
          <p:cNvSpPr/>
          <p:nvPr/>
        </p:nvSpPr>
        <p:spPr>
          <a:xfrm>
            <a:off x="5020459" y="32766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id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DE0127-D6CA-A294-E030-6BFD81CD5DCA}"/>
              </a:ext>
            </a:extLst>
          </p:cNvPr>
          <p:cNvSpPr/>
          <p:nvPr/>
        </p:nvSpPr>
        <p:spPr>
          <a:xfrm>
            <a:off x="6338135" y="32766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$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E26E8B-8D88-F523-5FDE-84DA0F23E07E}"/>
              </a:ext>
            </a:extLst>
          </p:cNvPr>
          <p:cNvSpPr/>
          <p:nvPr/>
        </p:nvSpPr>
        <p:spPr>
          <a:xfrm>
            <a:off x="2164715" y="4540372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g</a:t>
            </a:r>
            <a:r>
              <a:rPr lang="en-US" b="1" i="1" baseline="-25000">
                <a:solidFill>
                  <a:srgbClr val="0E47A1"/>
                </a:solidFill>
              </a:rPr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21226F-4A05-B315-675E-E90155EFA935}"/>
              </a:ext>
            </a:extLst>
          </p:cNvPr>
          <p:cNvSpPr/>
          <p:nvPr/>
        </p:nvSpPr>
        <p:spPr>
          <a:xfrm>
            <a:off x="3528107" y="45122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g</a:t>
            </a:r>
            <a:r>
              <a:rPr lang="en-US" b="1" i="1" baseline="-25000">
                <a:solidFill>
                  <a:srgbClr val="0E47A1"/>
                </a:solidFill>
              </a:rPr>
              <a:t>*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6340EC-AC41-3AE7-7B25-A5958EF01984}"/>
              </a:ext>
            </a:extLst>
          </p:cNvPr>
          <p:cNvSpPr/>
          <p:nvPr/>
        </p:nvSpPr>
        <p:spPr>
          <a:xfrm>
            <a:off x="4975907" y="45122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rgbClr val="0E47A1"/>
                </a:solidFill>
              </a:rPr>
              <a:t>g</a:t>
            </a:r>
            <a:r>
              <a:rPr lang="en-US" b="1" i="1" baseline="-25000" err="1">
                <a:solidFill>
                  <a:srgbClr val="0E47A1"/>
                </a:solidFill>
              </a:rPr>
              <a:t>id</a:t>
            </a:r>
            <a:endParaRPr lang="en-US" b="1" i="1" baseline="-25000">
              <a:solidFill>
                <a:srgbClr val="0E47A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EBCE2F-E44C-E34D-4F57-AD40A01C3321}"/>
              </a:ext>
            </a:extLst>
          </p:cNvPr>
          <p:cNvSpPr/>
          <p:nvPr/>
        </p:nvSpPr>
        <p:spPr>
          <a:xfrm>
            <a:off x="6293583" y="45122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g</a:t>
            </a:r>
            <a:r>
              <a:rPr lang="en-US" b="1" i="1" baseline="-25000">
                <a:solidFill>
                  <a:srgbClr val="0E47A1"/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74759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1EA4-5608-25F7-8B22-0BDAE800321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8100-E002-669B-E434-17FFC3F2E64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Partition the symbols in as many as groups possible, in such a way that f</a:t>
            </a:r>
            <a:r>
              <a:rPr lang="en-US" baseline="-25000" dirty="0"/>
              <a:t>a</a:t>
            </a:r>
            <a:r>
              <a:rPr lang="en-US" dirty="0"/>
              <a:t> and </a:t>
            </a:r>
            <a:r>
              <a:rPr lang="en-US" dirty="0" err="1"/>
              <a:t>g</a:t>
            </a:r>
            <a:r>
              <a:rPr lang="en-US" baseline="-25000" dirty="0" err="1"/>
              <a:t>b</a:t>
            </a:r>
            <a:r>
              <a:rPr lang="en-US" dirty="0"/>
              <a:t> are in the same group if a = b.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A66656-458F-85D7-3062-9F3AE5703710}"/>
              </a:ext>
            </a:extLst>
          </p:cNvPr>
          <p:cNvSpPr/>
          <p:nvPr/>
        </p:nvSpPr>
        <p:spPr>
          <a:xfrm>
            <a:off x="3900218" y="4653794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BA18456-2F71-6C53-5829-5C22B4EB698A}"/>
              </a:ext>
            </a:extLst>
          </p:cNvPr>
          <p:cNvSpPr/>
          <p:nvPr/>
        </p:nvSpPr>
        <p:spPr>
          <a:xfrm>
            <a:off x="1427822" y="357292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13164C-E868-6F35-3AF6-9D49978C2E31}"/>
              </a:ext>
            </a:extLst>
          </p:cNvPr>
          <p:cNvSpPr/>
          <p:nvPr/>
        </p:nvSpPr>
        <p:spPr>
          <a:xfrm>
            <a:off x="3866222" y="2548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EE6C08-9401-DDD3-167C-37484A4B385C}"/>
              </a:ext>
            </a:extLst>
          </p:cNvPr>
          <p:cNvSpPr/>
          <p:nvPr/>
        </p:nvSpPr>
        <p:spPr>
          <a:xfrm>
            <a:off x="1427822" y="5596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E9B872-846C-8053-DCDE-16250CBFD5C7}"/>
              </a:ext>
            </a:extLst>
          </p:cNvPr>
          <p:cNvSpPr/>
          <p:nvPr/>
        </p:nvSpPr>
        <p:spPr>
          <a:xfrm>
            <a:off x="1427822" y="461159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3FC8FB-9749-960B-183F-1778CFF69025}"/>
              </a:ext>
            </a:extLst>
          </p:cNvPr>
          <p:cNvSpPr/>
          <p:nvPr/>
        </p:nvSpPr>
        <p:spPr>
          <a:xfrm>
            <a:off x="3866222" y="36151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70CABF-2696-61CA-D59C-77DF7BC7D101}"/>
              </a:ext>
            </a:extLst>
          </p:cNvPr>
          <p:cNvSpPr/>
          <p:nvPr/>
        </p:nvSpPr>
        <p:spPr>
          <a:xfrm>
            <a:off x="1427822" y="2548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22BDC3-C7C8-C9DC-0267-80B98E33E35B}"/>
              </a:ext>
            </a:extLst>
          </p:cNvPr>
          <p:cNvSpPr/>
          <p:nvPr/>
        </p:nvSpPr>
        <p:spPr>
          <a:xfrm>
            <a:off x="3900218" y="5596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CEA92D6-7D70-9C56-0442-0BDE6E73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7489"/>
              </p:ext>
            </p:extLst>
          </p:nvPr>
        </p:nvGraphicFramePr>
        <p:xfrm>
          <a:off x="5230852" y="211249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088C66A-D5E0-71CA-8A64-9AE257ED5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57253"/>
              </p:ext>
            </p:extLst>
          </p:nvPr>
        </p:nvGraphicFramePr>
        <p:xfrm>
          <a:off x="5230851" y="2476671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F5E35D-8A37-8885-A1AE-EBCA08ED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564540"/>
              </p:ext>
            </p:extLst>
          </p:nvPr>
        </p:nvGraphicFramePr>
        <p:xfrm>
          <a:off x="5230850" y="283932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2750FD-AC11-0F5F-15BD-3EEEC83A8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935028"/>
              </p:ext>
            </p:extLst>
          </p:nvPr>
        </p:nvGraphicFramePr>
        <p:xfrm>
          <a:off x="5230849" y="3203492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50E1110-2586-3EAA-6D2C-BABCD15BB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95802"/>
              </p:ext>
            </p:extLst>
          </p:nvPr>
        </p:nvGraphicFramePr>
        <p:xfrm>
          <a:off x="5230848" y="3564553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66607D80-4BF9-2584-C34A-C755DD025189}"/>
              </a:ext>
            </a:extLst>
          </p:cNvPr>
          <p:cNvSpPr/>
          <p:nvPr/>
        </p:nvSpPr>
        <p:spPr>
          <a:xfrm>
            <a:off x="1656959" y="1151955"/>
            <a:ext cx="228600" cy="152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203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9B5D-C28E-6D09-C9C6-2B1265C70A1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90925-30E4-01D7-8581-D080DFC7706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5938" lvl="4" indent="-339725">
              <a:buFont typeface="+mj-lt"/>
              <a:buAutoNum type="arabicPeriod" startAt="3"/>
            </a:pPr>
            <a:r>
              <a:rPr lang="en-US" sz="2300" i="1"/>
              <a:t>if a &lt;· b, place an edge from the group of g</a:t>
            </a:r>
            <a:r>
              <a:rPr lang="en-US" sz="2300" i="1" baseline="-25000"/>
              <a:t>b</a:t>
            </a:r>
            <a:r>
              <a:rPr lang="en-US" sz="2300" i="1"/>
              <a:t> to the group of f</a:t>
            </a:r>
            <a:r>
              <a:rPr lang="en-US" sz="2300" i="1" baseline="-25000"/>
              <a:t>a</a:t>
            </a:r>
            <a:r>
              <a:rPr lang="en-US" sz="2300" i="1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/>
              <a:t>  if a ·&gt; b, place an edge from the group of f</a:t>
            </a:r>
            <a:r>
              <a:rPr lang="en-US" sz="2300" i="1" baseline="-25000"/>
              <a:t>a</a:t>
            </a:r>
            <a:r>
              <a:rPr lang="en-US" sz="2300" i="1"/>
              <a:t> to the group of g</a:t>
            </a:r>
            <a:r>
              <a:rPr lang="en-US" sz="2300" i="1" baseline="-25000"/>
              <a:t>b</a:t>
            </a:r>
            <a:endParaRPr lang="en-US" sz="2300"/>
          </a:p>
          <a:p>
            <a:pPr>
              <a:buFont typeface="Arial" panose="020B0604020202020204" pitchFamily="34" charset="0"/>
              <a:buNone/>
            </a:pPr>
            <a:endParaRPr lang="en-US" sz="2300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33287A-8799-71BF-242F-8DFBF85F4642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7EF4D9-90BC-CAA4-6A85-B84F87DD1456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F96373-80E8-5371-D132-EEAC09431687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D0E1A-C20F-C359-A107-64374C0A5D5C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673C70-A995-180F-52DA-2EE531D97565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C6158D-DBF3-8B42-BE20-9F3C4F02DDF9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71642E-19CE-3DAF-885B-F161CBF8015A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203FDA-214E-0288-6C92-33C431934531}"/>
              </a:ext>
            </a:extLst>
          </p:cNvPr>
          <p:cNvSpPr/>
          <p:nvPr/>
        </p:nvSpPr>
        <p:spPr>
          <a:xfrm>
            <a:off x="3770104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F97AC-B6CD-F149-2DCA-8963D73C4104}"/>
              </a:ext>
            </a:extLst>
          </p:cNvPr>
          <p:cNvSpPr txBox="1"/>
          <p:nvPr/>
        </p:nvSpPr>
        <p:spPr>
          <a:xfrm>
            <a:off x="5486400" y="4724400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621905-D71A-192A-019E-8C33A743E59F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+</a:t>
            </a:r>
            <a:r>
              <a:rPr lang="en-US" sz="2200" i="1" dirty="0"/>
              <a:t>--&gt;g</a:t>
            </a:r>
            <a:r>
              <a:rPr lang="en-US" sz="2200" i="1" baseline="-250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C0338-7B71-B5C1-3D01-2B632F96DAA2}"/>
              </a:ext>
            </a:extLst>
          </p:cNvPr>
          <p:cNvSpPr txBox="1"/>
          <p:nvPr/>
        </p:nvSpPr>
        <p:spPr>
          <a:xfrm>
            <a:off x="5455916" y="5115956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8C70BD-FD10-9D2E-C4EF-13705C67F0A1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*</a:t>
            </a:r>
            <a:r>
              <a:rPr lang="en-US" sz="2200" i="1" dirty="0"/>
              <a:t>--&gt;g</a:t>
            </a:r>
            <a:r>
              <a:rPr lang="en-US" sz="2200" i="1" baseline="-25000" dirty="0"/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7F7F5-4E03-9257-362F-F4257D07AD46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0F36AD-B805-5B87-EE38-769F4090E312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id</a:t>
            </a:r>
            <a:r>
              <a:rPr lang="en-US" sz="2200" i="1" dirty="0"/>
              <a:t>--&gt;g</a:t>
            </a:r>
            <a:r>
              <a:rPr lang="en-US" sz="2200" i="1" baseline="-25000" dirty="0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47BB9D-72CD-414B-F44D-E09A06071B6D}"/>
              </a:ext>
            </a:extLst>
          </p:cNvPr>
          <p:cNvSpPr txBox="1"/>
          <p:nvPr/>
        </p:nvSpPr>
        <p:spPr>
          <a:xfrm>
            <a:off x="5366812" y="582872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35943-8BAC-232D-50DB-95D99F4A464D}"/>
              </a:ext>
            </a:extLst>
          </p:cNvPr>
          <p:cNvSpPr txBox="1"/>
          <p:nvPr/>
        </p:nvSpPr>
        <p:spPr>
          <a:xfrm>
            <a:off x="6766548" y="582872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/>
              <a:t>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F40E82-5F78-03E2-EB2F-B20601EAA17D}"/>
              </a:ext>
            </a:extLst>
          </p:cNvPr>
          <p:cNvCxnSpPr>
            <a:stCxn id="5" idx="4"/>
            <a:endCxn id="8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D42A2E-7763-C620-666C-A0E691412742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1818034" y="3263526"/>
            <a:ext cx="2007348" cy="1632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0AF831-46B7-63A4-5262-3FF1D44CE442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C748C4-F506-F11E-8D66-D177F30D0DF6}"/>
              </a:ext>
            </a:extLst>
          </p:cNvPr>
          <p:cNvCxnSpPr>
            <a:stCxn id="4" idx="2"/>
            <a:endCxn id="8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5523F4B-CDF8-78F4-6CAD-96CEAB37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180464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4D888D1-081C-20C7-49F1-4BD874DC7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452930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55D477-9BCB-C70A-AE73-591A1A98B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65741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CA0E0BB-2AD2-547B-3337-CF9FC034C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053147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7B3FB1-6308-029E-50F9-C5C0BE637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76050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713B56E1-D2C6-9863-A40E-2BF1E7B74BDE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DEA6AC-BA5F-E2C7-12DB-EFB94386A5B8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38576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3353-5BD5-AEA5-7E14-133E5DE663D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86FF5-863A-C651-DBB7-70952B9CC48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5938" lvl="4" indent="-339725">
              <a:buFont typeface="+mj-lt"/>
              <a:buAutoNum type="arabicPeriod" startAt="3"/>
            </a:pPr>
            <a:r>
              <a:rPr lang="en-US" sz="2300" i="1"/>
              <a:t>if a &lt;· b, place an edge from the group of g</a:t>
            </a:r>
            <a:r>
              <a:rPr lang="en-US" sz="2300" i="1" baseline="-25000"/>
              <a:t>b</a:t>
            </a:r>
            <a:r>
              <a:rPr lang="en-US" sz="2300" i="1"/>
              <a:t> to the group of f</a:t>
            </a:r>
            <a:r>
              <a:rPr lang="en-US" sz="2300" i="1" baseline="-25000"/>
              <a:t>a</a:t>
            </a:r>
            <a:r>
              <a:rPr lang="en-US" sz="2300" i="1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/>
              <a:t>  if a ·&gt; b, place an edge from the group of f</a:t>
            </a:r>
            <a:r>
              <a:rPr lang="en-US" sz="2300" i="1" baseline="-25000"/>
              <a:t>a</a:t>
            </a:r>
            <a:r>
              <a:rPr lang="en-US" sz="2300" i="1"/>
              <a:t> to the group of g</a:t>
            </a:r>
            <a:r>
              <a:rPr lang="en-US" sz="2300" i="1" baseline="-25000"/>
              <a:t>b</a:t>
            </a:r>
            <a:endParaRPr lang="en-US" sz="2300"/>
          </a:p>
          <a:p>
            <a:pPr>
              <a:buFont typeface="Arial" panose="020B0604020202020204" pitchFamily="34" charset="0"/>
              <a:buNone/>
            </a:pPr>
            <a:endParaRPr lang="en-US" sz="2300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C313A9-0364-DA22-DCCE-D471BF980F23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290BAE-9741-4D75-30EA-3C31ACB2CB32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33375E-4F4D-FE2A-89FA-ECE79873CC73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EE4F5C-8099-BA6F-FD08-6D67C95B3B7C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EC029D-F54E-7DE3-4704-D71B46066199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4CBA7-164F-4CD8-BE99-A326B032DF1B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4720F9-5F77-4C0C-013A-45A2FCFBC380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F2A07D-71C4-7C73-EB6A-603B0FAAAC4C}"/>
              </a:ext>
            </a:extLst>
          </p:cNvPr>
          <p:cNvSpPr/>
          <p:nvPr/>
        </p:nvSpPr>
        <p:spPr>
          <a:xfrm>
            <a:off x="3770104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8AA766-0A19-C370-3563-E0D32E67F279}"/>
              </a:ext>
            </a:extLst>
          </p:cNvPr>
          <p:cNvSpPr txBox="1"/>
          <p:nvPr/>
        </p:nvSpPr>
        <p:spPr>
          <a:xfrm>
            <a:off x="5486400" y="4724400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10328C-5754-2822-BC85-93A6B11796CC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B02B6-41B6-0FF2-D3C4-0CF1CB47FF0A}"/>
              </a:ext>
            </a:extLst>
          </p:cNvPr>
          <p:cNvSpPr txBox="1"/>
          <p:nvPr/>
        </p:nvSpPr>
        <p:spPr>
          <a:xfrm>
            <a:off x="5455916" y="5115956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49B9A7-EDE8-737A-0249-DAC09000354B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*</a:t>
            </a:r>
            <a:r>
              <a:rPr lang="en-US" sz="2200" i="1" dirty="0"/>
              <a:t>--&gt;g</a:t>
            </a:r>
            <a:r>
              <a:rPr lang="en-US" sz="2200" i="1" baseline="-25000" dirty="0"/>
              <a:t>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0E1E12-3D56-1B3A-E92A-E55DE94C1332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0C56E-174C-DEFF-D469-D18CFDF1512F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id</a:t>
            </a:r>
            <a:r>
              <a:rPr lang="en-US" sz="2200" i="1" dirty="0"/>
              <a:t>--&gt;g</a:t>
            </a:r>
            <a:r>
              <a:rPr lang="en-US" sz="2200" i="1" baseline="-25000" dirty="0"/>
              <a:t>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6644B-39FC-872D-7F83-4BA3BAED4D1D}"/>
              </a:ext>
            </a:extLst>
          </p:cNvPr>
          <p:cNvSpPr txBox="1"/>
          <p:nvPr/>
        </p:nvSpPr>
        <p:spPr>
          <a:xfrm>
            <a:off x="5366812" y="582872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10D16-2CD3-98E6-58B6-7508AE0E641A}"/>
              </a:ext>
            </a:extLst>
          </p:cNvPr>
          <p:cNvSpPr txBox="1"/>
          <p:nvPr/>
        </p:nvSpPr>
        <p:spPr>
          <a:xfrm>
            <a:off x="6794684" y="582872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F4449A-1AE2-7E2A-E96E-81486926ACEB}"/>
              </a:ext>
            </a:extLst>
          </p:cNvPr>
          <p:cNvCxnSpPr>
            <a:stCxn id="5" idx="4"/>
            <a:endCxn id="8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07D881-83DD-81D0-2687-5F6ED9F1B11C}"/>
              </a:ext>
            </a:extLst>
          </p:cNvPr>
          <p:cNvCxnSpPr>
            <a:stCxn id="5" idx="6"/>
            <a:endCxn id="9" idx="2"/>
          </p:cNvCxnSpPr>
          <p:nvPr/>
        </p:nvCxnSpPr>
        <p:spPr>
          <a:xfrm>
            <a:off x="1907308" y="4072596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33CF4F-ED9F-9E09-6E55-99857B2332C7}"/>
              </a:ext>
            </a:extLst>
          </p:cNvPr>
          <p:cNvCxnSpPr>
            <a:stCxn id="6" idx="4"/>
            <a:endCxn id="9" idx="0"/>
          </p:cNvCxnSpPr>
          <p:nvPr/>
        </p:nvCxnSpPr>
        <p:spPr>
          <a:xfrm rot="5400000">
            <a:off x="38334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0C1355-161D-6586-496F-0D34950BB42F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296B60-0969-A442-62F8-1183A6D827AA}"/>
              </a:ext>
            </a:extLst>
          </p:cNvPr>
          <p:cNvCxnSpPr>
            <a:stCxn id="9" idx="4"/>
            <a:endCxn id="4" idx="0"/>
          </p:cNvCxnSpPr>
          <p:nvPr/>
        </p:nvCxnSpPr>
        <p:spPr>
          <a:xfrm rot="16200000" flipH="1">
            <a:off x="3829306" y="4588998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18AF01-DFF5-573D-8900-CD8F5F1823DA}"/>
              </a:ext>
            </a:extLst>
          </p:cNvPr>
          <p:cNvCxnSpPr>
            <a:stCxn id="9" idx="3"/>
            <a:endCxn id="7" idx="7"/>
          </p:cNvCxnSpPr>
          <p:nvPr/>
        </p:nvCxnSpPr>
        <p:spPr>
          <a:xfrm rot="5400000">
            <a:off x="2025532" y="4080624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A4EEBA-1278-51B0-8FD3-E6D2BF30A1DC}"/>
              </a:ext>
            </a:extLst>
          </p:cNvPr>
          <p:cNvCxnSpPr>
            <a:stCxn id="6" idx="3"/>
            <a:endCxn id="8" idx="7"/>
          </p:cNvCxnSpPr>
          <p:nvPr/>
        </p:nvCxnSpPr>
        <p:spPr>
          <a:xfrm rot="5400000">
            <a:off x="2005604" y="3075956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04D00F-B409-AA6A-D351-CC0DFC94719D}"/>
              </a:ext>
            </a:extLst>
          </p:cNvPr>
          <p:cNvCxnSpPr>
            <a:stCxn id="4" idx="2"/>
            <a:endCxn id="8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88F098B-FD5B-8E8C-89A6-B9A70A597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313428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2FEF7D2-C2DB-33EC-5D25-2346E3F54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260680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4883D27-B687-5950-052A-6B987214F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11189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0A43C00-255C-DC6D-AE3C-7744E5E89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19128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0690485-42AB-D605-4376-F62B77240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506159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349C44A9-266E-DE8F-E122-C6829C6F7FB5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01A1E7-C347-1663-D8D5-9C9C1EC41B3A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81778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5505-4D2D-4842-411D-ADCA45C27C6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52E72-7F7E-9F74-97E8-1F1C5EB9DE0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5938" lvl="4" indent="-339725">
              <a:buFont typeface="+mj-lt"/>
              <a:buAutoNum type="arabicPeriod" startAt="3"/>
            </a:pPr>
            <a:r>
              <a:rPr lang="en-US" sz="2300" i="1"/>
              <a:t>if a &lt;· b, place an edge from the group of g</a:t>
            </a:r>
            <a:r>
              <a:rPr lang="en-US" sz="2300" i="1" baseline="-25000"/>
              <a:t>b</a:t>
            </a:r>
            <a:r>
              <a:rPr lang="en-US" sz="2300" i="1"/>
              <a:t> to the group of f</a:t>
            </a:r>
            <a:r>
              <a:rPr lang="en-US" sz="2300" i="1" baseline="-25000"/>
              <a:t>a</a:t>
            </a:r>
            <a:r>
              <a:rPr lang="en-US" sz="2300" i="1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/>
              <a:t>  if a ·&gt; b, place an edge from the group of f</a:t>
            </a:r>
            <a:r>
              <a:rPr lang="en-US" sz="2300" i="1" baseline="-25000"/>
              <a:t>a</a:t>
            </a:r>
            <a:r>
              <a:rPr lang="en-US" sz="2300" i="1"/>
              <a:t> to the group of g</a:t>
            </a:r>
            <a:r>
              <a:rPr lang="en-US" sz="2300" i="1" baseline="-25000"/>
              <a:t>b</a:t>
            </a:r>
            <a:endParaRPr lang="en-US" sz="2300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04864C-3957-4F8F-2809-B833A2DED0E8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B1FBC7-F6D2-176F-0372-FE149B602F51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6BAFE5-B4F0-2168-6A91-16DFE052FD2A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F4E2DC-0677-1580-4225-DAB1966D8D2F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2A5BED-C9DD-31AF-87FD-A42B48BB773F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B81EF6-C4D5-36EE-5CA0-CE3A19CBF327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BB78D1-D0BA-EAA3-64CB-1B98F05E6721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769AEF-5479-0B57-5486-026DB4F62A45}"/>
              </a:ext>
            </a:extLst>
          </p:cNvPr>
          <p:cNvSpPr/>
          <p:nvPr/>
        </p:nvSpPr>
        <p:spPr>
          <a:xfrm>
            <a:off x="3770104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415CA4-3728-7E11-F572-BFE953EE3F3C}"/>
              </a:ext>
            </a:extLst>
          </p:cNvPr>
          <p:cNvSpPr txBox="1"/>
          <p:nvPr/>
        </p:nvSpPr>
        <p:spPr>
          <a:xfrm>
            <a:off x="5486400" y="4724400"/>
            <a:ext cx="106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A0AF9-E04F-301A-4339-7CB4F0833500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F12D06-8491-53AD-857B-EDF2030EC573}"/>
              </a:ext>
            </a:extLst>
          </p:cNvPr>
          <p:cNvSpPr txBox="1"/>
          <p:nvPr/>
        </p:nvSpPr>
        <p:spPr>
          <a:xfrm>
            <a:off x="5455916" y="5115956"/>
            <a:ext cx="10972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0E94D-0EEE-46D7-2A7B-EDC4511A8987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 </a:t>
            </a:r>
            <a:r>
              <a:rPr lang="en-US" sz="2200" i="1" err="1"/>
              <a:t>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6D8C88-F9FA-CD02-EEC7-68F1BC8CD6AD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F28047-D1B0-1D1A-C107-CA2F7D90F0D6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B40FE3-2BA5-618E-6486-C1EC5FAA03AC}"/>
              </a:ext>
            </a:extLst>
          </p:cNvPr>
          <p:cNvCxnSpPr>
            <a:stCxn id="5" idx="4"/>
            <a:endCxn id="8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5F2B1E-9679-FEC9-1661-C7671753C96B}"/>
              </a:ext>
            </a:extLst>
          </p:cNvPr>
          <p:cNvCxnSpPr>
            <a:stCxn id="5" idx="6"/>
            <a:endCxn id="9" idx="2"/>
          </p:cNvCxnSpPr>
          <p:nvPr/>
        </p:nvCxnSpPr>
        <p:spPr>
          <a:xfrm>
            <a:off x="1907308" y="4072596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B52327-2E3D-0542-2409-802138E816AD}"/>
              </a:ext>
            </a:extLst>
          </p:cNvPr>
          <p:cNvCxnSpPr>
            <a:stCxn id="6" idx="4"/>
            <a:endCxn id="9" idx="0"/>
          </p:cNvCxnSpPr>
          <p:nvPr/>
        </p:nvCxnSpPr>
        <p:spPr>
          <a:xfrm rot="5400000">
            <a:off x="38334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370469-AF97-7735-96F4-2D6819301DD3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82D9B3-8865-5A4A-C506-03C5E7FD0360}"/>
              </a:ext>
            </a:extLst>
          </p:cNvPr>
          <p:cNvCxnSpPr>
            <a:stCxn id="9" idx="4"/>
            <a:endCxn id="4" idx="0"/>
          </p:cNvCxnSpPr>
          <p:nvPr/>
        </p:nvCxnSpPr>
        <p:spPr>
          <a:xfrm rot="16200000" flipH="1">
            <a:off x="3829306" y="4588998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BAD337-98D9-B8DF-A698-68D5B3AD5239}"/>
              </a:ext>
            </a:extLst>
          </p:cNvPr>
          <p:cNvCxnSpPr>
            <a:stCxn id="9" idx="3"/>
            <a:endCxn id="7" idx="7"/>
          </p:cNvCxnSpPr>
          <p:nvPr/>
        </p:nvCxnSpPr>
        <p:spPr>
          <a:xfrm rot="5400000">
            <a:off x="2025532" y="4080624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686FD3-3C98-F210-BF49-4CDFCAE5FD1C}"/>
              </a:ext>
            </a:extLst>
          </p:cNvPr>
          <p:cNvCxnSpPr>
            <a:stCxn id="6" idx="3"/>
            <a:endCxn id="8" idx="7"/>
          </p:cNvCxnSpPr>
          <p:nvPr/>
        </p:nvCxnSpPr>
        <p:spPr>
          <a:xfrm rot="5400000">
            <a:off x="2005604" y="3075956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86407C-8B79-7061-F508-C6DE9E144F4D}"/>
              </a:ext>
            </a:extLst>
          </p:cNvPr>
          <p:cNvCxnSpPr>
            <a:stCxn id="4" idx="2"/>
            <a:endCxn id="8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D915AF-1A82-6490-5DF5-AC7DF6EB2F68}"/>
              </a:ext>
            </a:extLst>
          </p:cNvPr>
          <p:cNvCxnSpPr>
            <a:stCxn id="10" idx="5"/>
            <a:endCxn id="4" idx="1"/>
          </p:cNvCxnSpPr>
          <p:nvPr/>
        </p:nvCxnSpPr>
        <p:spPr>
          <a:xfrm rot="16200000" flipH="1">
            <a:off x="2008534" y="3073026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256F28-31C5-9793-9EEB-E2028EF3AAA7}"/>
              </a:ext>
            </a:extLst>
          </p:cNvPr>
          <p:cNvCxnSpPr>
            <a:stCxn id="10" idx="4"/>
            <a:endCxn id="5" idx="0"/>
          </p:cNvCxnSpPr>
          <p:nvPr/>
        </p:nvCxnSpPr>
        <p:spPr>
          <a:xfrm rot="5400000">
            <a:off x="13950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34">
            <a:extLst>
              <a:ext uri="{FF2B5EF4-FFF2-40B4-BE49-F238E27FC236}">
                <a16:creationId xmlns:a16="http://schemas.microsoft.com/office/drawing/2014/main" id="{5D3B899E-E902-5BE4-86EF-9FA2D3F1DB56}"/>
              </a:ext>
            </a:extLst>
          </p:cNvPr>
          <p:cNvCxnSpPr/>
          <p:nvPr/>
        </p:nvCxnSpPr>
        <p:spPr>
          <a:xfrm rot="10800000" flipV="1">
            <a:off x="1297708" y="3048000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C22953E-F9A2-C60C-F376-3CD3A89F8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35276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95BB200-4C60-1156-673A-D56125F81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045695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248AA79-C985-B3D2-906E-2CE71D1D4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579655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D0826C9-6437-6EF6-4FA7-F2ECF9AAB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37828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DEB1258-2DAE-ED98-70D1-7D0DF059F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879938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FA84FFCB-ADF2-A6EC-EA00-6E5A5BA7F76B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AB19F6-AC65-20BB-719E-DBA0469DC0E5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1927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896A-F1A4-5D4B-A1FE-EE246B42EB7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EDD83-419A-55C0-48C8-FAE41D1F026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4" indent="-280988">
              <a:buFont typeface="+mj-lt"/>
              <a:buAutoNum type="arabicPeriod" startAt="3"/>
            </a:pPr>
            <a:r>
              <a:rPr lang="en-US" sz="2300" i="1"/>
              <a:t>if a &lt;· b, place an edge from the group of g</a:t>
            </a:r>
            <a:r>
              <a:rPr lang="en-US" sz="2300" i="1" baseline="-25000"/>
              <a:t>b</a:t>
            </a:r>
            <a:r>
              <a:rPr lang="en-US" sz="2300" i="1"/>
              <a:t> to the group of f</a:t>
            </a:r>
            <a:r>
              <a:rPr lang="en-US" sz="2300" i="1" baseline="-25000"/>
              <a:t>a</a:t>
            </a:r>
            <a:r>
              <a:rPr lang="en-US" sz="2300" i="1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/>
              <a:t>  if a ·&gt; b, place an edge from the group of f</a:t>
            </a:r>
            <a:r>
              <a:rPr lang="en-US" sz="2300" i="1" baseline="-25000"/>
              <a:t>a</a:t>
            </a:r>
            <a:r>
              <a:rPr lang="en-US" sz="2300" i="1"/>
              <a:t> to the group of g</a:t>
            </a:r>
            <a:r>
              <a:rPr lang="en-US" sz="2300" i="1" baseline="-25000"/>
              <a:t>b</a:t>
            </a:r>
            <a:endParaRPr lang="en-US" sz="2300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4AB6FB-BE4D-F428-9C5F-7C616FB77BEA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DF00A2-D181-BEBF-79A5-2B31E81B0FF1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AD33F2-5B83-AE6C-324E-DD10A46DEC45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04A68D-5061-65FC-526E-ECC69247180C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3FFCF6-6211-32D6-7CFB-B34CB7C41C8E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885537-AD53-6B87-B561-9D62D0D41981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4F3447-3387-69BC-9B14-B7DE3DCB7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050139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E2D9471-CCDE-0F22-0268-9628E2DFB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774350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715EDB2-57E0-6715-71B7-2088913A8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752911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4153500-9405-3154-20D7-1910729CB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79740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FAF5A2C-BA59-9725-E270-BC5EC465D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643268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474633-4324-565E-C566-DF3120035AC8}"/>
              </a:ext>
            </a:extLst>
          </p:cNvPr>
          <p:cNvSpPr txBox="1"/>
          <p:nvPr/>
        </p:nvSpPr>
        <p:spPr>
          <a:xfrm>
            <a:off x="5486400" y="4724400"/>
            <a:ext cx="106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D94526-F28E-3B27-992C-86057CDB9FA5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+</a:t>
            </a:r>
            <a:r>
              <a:rPr lang="en-US" sz="2200" i="1" dirty="0"/>
              <a:t>--&gt;g</a:t>
            </a:r>
            <a:r>
              <a:rPr lang="en-US" sz="2200" i="1" baseline="-25000" dirty="0"/>
              <a:t>$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ECC9E-FDCC-7FEC-DD27-9B89CD952B28}"/>
              </a:ext>
            </a:extLst>
          </p:cNvPr>
          <p:cNvSpPr txBox="1"/>
          <p:nvPr/>
        </p:nvSpPr>
        <p:spPr>
          <a:xfrm>
            <a:off x="5455916" y="5115956"/>
            <a:ext cx="10972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C5E8D5-041D-C8E1-6F77-A17D18945F04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*</a:t>
            </a:r>
            <a:r>
              <a:rPr lang="en-US" sz="2200" i="1" dirty="0"/>
              <a:t>--&gt;g</a:t>
            </a:r>
            <a:r>
              <a:rPr lang="en-US" sz="2200" i="1" baseline="-25000" dirty="0"/>
              <a:t>$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CF8BE3-3B47-8829-EEB9-3C579D7FB09A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8E3BC-53C3-0E49-B505-52ACE2EE0354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f</a:t>
            </a:r>
            <a:r>
              <a:rPr lang="en-US" sz="2200" i="1" baseline="-25000" dirty="0"/>
              <a:t>id</a:t>
            </a:r>
            <a:r>
              <a:rPr lang="en-US" sz="2200" i="1" dirty="0"/>
              <a:t>--&gt;g</a:t>
            </a:r>
            <a:r>
              <a:rPr lang="en-US" sz="2200" i="1" baseline="-25000" dirty="0"/>
              <a:t>$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650FC2-0C52-3AFA-1137-A3D7F3BC8773}"/>
              </a:ext>
            </a:extLst>
          </p:cNvPr>
          <p:cNvCxnSpPr>
            <a:stCxn id="5" idx="4"/>
            <a:endCxn id="7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23829D-F0C1-6525-D901-199BE02CBF85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1907308" y="4072596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A2958E-FD20-6635-F78E-856CA01392A5}"/>
              </a:ext>
            </a:extLst>
          </p:cNvPr>
          <p:cNvCxnSpPr>
            <a:stCxn id="6" idx="4"/>
            <a:endCxn id="8" idx="0"/>
          </p:cNvCxnSpPr>
          <p:nvPr/>
        </p:nvCxnSpPr>
        <p:spPr>
          <a:xfrm rot="5400000">
            <a:off x="38334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377F21-5B24-8B7E-19E9-FE49EB947D04}"/>
              </a:ext>
            </a:extLst>
          </p:cNvPr>
          <p:cNvCxnSpPr>
            <a:stCxn id="7" idx="4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F495DE-F54E-651E-F9BA-BDFBBA70C77E}"/>
              </a:ext>
            </a:extLst>
          </p:cNvPr>
          <p:cNvCxnSpPr>
            <a:stCxn id="8" idx="4"/>
            <a:endCxn id="4" idx="0"/>
          </p:cNvCxnSpPr>
          <p:nvPr/>
        </p:nvCxnSpPr>
        <p:spPr>
          <a:xfrm rot="16200000" flipH="1">
            <a:off x="3829306" y="4588998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80DC9E-C2DC-EE5D-BF6F-BDB4B120801F}"/>
              </a:ext>
            </a:extLst>
          </p:cNvPr>
          <p:cNvCxnSpPr>
            <a:stCxn id="8" idx="3"/>
          </p:cNvCxnSpPr>
          <p:nvPr/>
        </p:nvCxnSpPr>
        <p:spPr>
          <a:xfrm rot="5400000">
            <a:off x="2025532" y="4080624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5445A4-AF7B-18E3-968A-B7C10B37BC17}"/>
              </a:ext>
            </a:extLst>
          </p:cNvPr>
          <p:cNvCxnSpPr>
            <a:stCxn id="6" idx="3"/>
            <a:endCxn id="7" idx="7"/>
          </p:cNvCxnSpPr>
          <p:nvPr/>
        </p:nvCxnSpPr>
        <p:spPr>
          <a:xfrm rot="5400000">
            <a:off x="2005604" y="3075956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150594-2973-EDB8-44FF-846764711B76}"/>
              </a:ext>
            </a:extLst>
          </p:cNvPr>
          <p:cNvCxnSpPr>
            <a:stCxn id="4" idx="2"/>
            <a:endCxn id="7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429E89-1516-1867-24F0-4EED22DF5D3A}"/>
              </a:ext>
            </a:extLst>
          </p:cNvPr>
          <p:cNvCxnSpPr>
            <a:stCxn id="9" idx="5"/>
            <a:endCxn id="4" idx="1"/>
          </p:cNvCxnSpPr>
          <p:nvPr/>
        </p:nvCxnSpPr>
        <p:spPr>
          <a:xfrm rot="16200000" flipH="1">
            <a:off x="2008534" y="3073026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ACB677B-8C47-7FA2-089E-F56AF380598A}"/>
              </a:ext>
            </a:extLst>
          </p:cNvPr>
          <p:cNvCxnSpPr>
            <a:stCxn id="9" idx="4"/>
            <a:endCxn id="5" idx="0"/>
          </p:cNvCxnSpPr>
          <p:nvPr/>
        </p:nvCxnSpPr>
        <p:spPr>
          <a:xfrm rot="5400000">
            <a:off x="13950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EF5EF8D9-AAE9-A0C4-0B6A-77E7E7E114F3}"/>
              </a:ext>
            </a:extLst>
          </p:cNvPr>
          <p:cNvCxnSpPr>
            <a:stCxn id="9" idx="2"/>
          </p:cNvCxnSpPr>
          <p:nvPr/>
        </p:nvCxnSpPr>
        <p:spPr>
          <a:xfrm rot="10800000" flipV="1">
            <a:off x="1297708" y="3048000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1CB138-BF21-D0D4-7A16-A1AE8A0D77C3}"/>
              </a:ext>
            </a:extLst>
          </p:cNvPr>
          <p:cNvCxnSpPr>
            <a:stCxn id="4" idx="4"/>
          </p:cNvCxnSpPr>
          <p:nvPr/>
        </p:nvCxnSpPr>
        <p:spPr>
          <a:xfrm rot="5400000">
            <a:off x="385919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6F5420E-6667-CE29-C015-67513A9B0FB4}"/>
              </a:ext>
            </a:extLst>
          </p:cNvPr>
          <p:cNvCxnSpPr>
            <a:stCxn id="5" idx="5"/>
          </p:cNvCxnSpPr>
          <p:nvPr/>
        </p:nvCxnSpPr>
        <p:spPr>
          <a:xfrm rot="16200000" flipH="1">
            <a:off x="2028462" y="4077694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ED2613B0-D248-3FA0-40F0-317C4D28E2C9}"/>
              </a:ext>
            </a:extLst>
          </p:cNvPr>
          <p:cNvCxnSpPr>
            <a:stCxn id="6" idx="6"/>
          </p:cNvCxnSpPr>
          <p:nvPr/>
        </p:nvCxnSpPr>
        <p:spPr>
          <a:xfrm>
            <a:off x="4345708" y="3048000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890AF07-271D-13C4-8135-65519E5D0C47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CC05EE-6EA9-34E7-66CA-693B80E8CBF9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1311CE-35F2-E601-9CE1-226B3CE173F5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94ADCE-8BC6-D136-8DD3-8198782ACAEE}"/>
              </a:ext>
            </a:extLst>
          </p:cNvPr>
          <p:cNvSpPr/>
          <p:nvPr/>
        </p:nvSpPr>
        <p:spPr>
          <a:xfrm>
            <a:off x="374196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96324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82C2-EA48-D6F5-702B-3D251E355A0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B0F130-22F0-A653-1557-FC7058D43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17483"/>
              </p:ext>
            </p:extLst>
          </p:nvPr>
        </p:nvGraphicFramePr>
        <p:xfrm>
          <a:off x="5625606" y="121551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60BDC7-714F-4FB9-B0AA-AEE0E62C4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808404"/>
              </p:ext>
            </p:extLst>
          </p:nvPr>
        </p:nvGraphicFramePr>
        <p:xfrm>
          <a:off x="5625605" y="158914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4F1CB7-0CD1-60DA-BAB4-F7D31B73C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88920"/>
              </p:ext>
            </p:extLst>
          </p:nvPr>
        </p:nvGraphicFramePr>
        <p:xfrm>
          <a:off x="5625605" y="195490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BAED834-BE92-B9FC-2431-19CC4C3CD9D5}"/>
              </a:ext>
            </a:extLst>
          </p:cNvPr>
          <p:cNvSpPr/>
          <p:nvPr/>
        </p:nvSpPr>
        <p:spPr>
          <a:xfrm>
            <a:off x="6360152" y="1666334"/>
            <a:ext cx="438172" cy="203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2D2C39-69DC-75E1-9658-38A1AE3B291C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12ACB6-9860-7C65-7B22-C5AC2DCA1BAC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E5DA6D-14CF-D82F-9CA4-428216F9A6CC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F7C1A2-235B-775F-8DE8-AE98F1E89416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A64D3F-5A53-CD43-B2A8-424B3D040802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E31944-2A72-8F59-88C4-9C109B6F4508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74DABE-E6A7-8748-E558-416A9C8B7D78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7CCF47-0C4B-B599-9EE1-2D3454FDCB0C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A8BB49-8522-DB34-1C24-44FD7040DE47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21FF7F-87CE-4013-ABC2-42C890FE5A5F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3D3AAB-1630-2D6D-B00B-381607C1ADFB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00BB56-4683-088D-4E90-8E25583B22FC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1D0AE7-E796-55AA-28D0-845302445815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C4C769-F733-48A8-771A-0A1F571CD17B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FF4509A-8F59-E401-5551-77157FB13085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A8C4EB-20E4-97BD-81C7-6552E5D2353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D92A1A-19D4-CE13-860E-7E482C82958D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E4525B-2043-3B8E-6C72-C1FDFBDA2BED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AC3D7A3F-CE75-9E07-8036-7556C59CA9B2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ACBE08-71C6-3B59-E333-C2F183660AD6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AB5E82-4C0A-BFEE-0AF5-29F879095C95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7991B660-820D-6BB9-11FC-C1BCA3BB04AF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6A1E61B-6E05-BEFC-D6BB-FBC1E7410424}"/>
              </a:ext>
            </a:extLst>
          </p:cNvPr>
          <p:cNvSpPr/>
          <p:nvPr/>
        </p:nvSpPr>
        <p:spPr>
          <a:xfrm>
            <a:off x="5243511" y="3058183"/>
            <a:ext cx="3709989" cy="2885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buFont typeface="+mj-lt"/>
              <a:buAutoNum type="arabicPeriod" startAt="4"/>
            </a:pPr>
            <a:r>
              <a:rPr lang="en-US" sz="2300" i="1" dirty="0">
                <a:solidFill>
                  <a:schemeClr val="tx1"/>
                </a:solidFill>
              </a:rPr>
              <a:t>If the constructed graph has a cycle then no precedence functions exist. When there are no cycles collect the length of the longest paths from the groups of f</a:t>
            </a:r>
            <a:r>
              <a:rPr lang="en-US" sz="2300" i="1" baseline="-25000" dirty="0">
                <a:solidFill>
                  <a:schemeClr val="tx1"/>
                </a:solidFill>
              </a:rPr>
              <a:t>a</a:t>
            </a:r>
            <a:r>
              <a:rPr lang="en-US" sz="2300" i="1" dirty="0">
                <a:solidFill>
                  <a:schemeClr val="tx1"/>
                </a:solidFill>
              </a:rPr>
              <a:t> and </a:t>
            </a:r>
            <a:r>
              <a:rPr lang="en-US" sz="2300" i="1" dirty="0" err="1">
                <a:solidFill>
                  <a:schemeClr val="tx1"/>
                </a:solidFill>
              </a:rPr>
              <a:t>g</a:t>
            </a:r>
            <a:r>
              <a:rPr lang="en-US" sz="2300" i="1" baseline="-25000" dirty="0" err="1">
                <a:solidFill>
                  <a:schemeClr val="tx1"/>
                </a:solidFill>
              </a:rPr>
              <a:t>b</a:t>
            </a:r>
            <a:r>
              <a:rPr lang="en-US" sz="2300" i="1" dirty="0">
                <a:solidFill>
                  <a:schemeClr val="tx1"/>
                </a:solidFill>
              </a:rPr>
              <a:t> respectively.</a:t>
            </a:r>
            <a:endParaRPr lang="en-US" sz="2300" dirty="0">
              <a:solidFill>
                <a:schemeClr val="tx1"/>
              </a:solidFill>
            </a:endParaRPr>
          </a:p>
          <a:p>
            <a:pPr algn="just"/>
            <a:endParaRPr lang="en-US" sz="23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45941FB-752B-C3F4-38F1-014732F720C5}"/>
              </a:ext>
            </a:extLst>
          </p:cNvPr>
          <p:cNvCxnSpPr/>
          <p:nvPr/>
        </p:nvCxnSpPr>
        <p:spPr>
          <a:xfrm>
            <a:off x="7392494" y="4301887"/>
            <a:ext cx="1345619" cy="2575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67E220A-A3EE-510E-118A-4596651F34C3}"/>
              </a:ext>
            </a:extLst>
          </p:cNvPr>
          <p:cNvCxnSpPr/>
          <p:nvPr/>
        </p:nvCxnSpPr>
        <p:spPr>
          <a:xfrm>
            <a:off x="5637327" y="4666647"/>
            <a:ext cx="32385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3E02CE-6778-4219-EF01-E5A9C06B378D}"/>
              </a:ext>
            </a:extLst>
          </p:cNvPr>
          <p:cNvCxnSpPr/>
          <p:nvPr/>
        </p:nvCxnSpPr>
        <p:spPr>
          <a:xfrm>
            <a:off x="5625605" y="5057492"/>
            <a:ext cx="32385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CA6276-23E0-0E84-F02E-322E1EFF3E28}"/>
              </a:ext>
            </a:extLst>
          </p:cNvPr>
          <p:cNvCxnSpPr/>
          <p:nvPr/>
        </p:nvCxnSpPr>
        <p:spPr>
          <a:xfrm>
            <a:off x="5637327" y="5386387"/>
            <a:ext cx="32385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B3DA04-63E0-1F99-1199-A266FF67AD7B}"/>
              </a:ext>
            </a:extLst>
          </p:cNvPr>
          <p:cNvCxnSpPr/>
          <p:nvPr/>
        </p:nvCxnSpPr>
        <p:spPr>
          <a:xfrm>
            <a:off x="5637327" y="5743296"/>
            <a:ext cx="1457245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05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565C-F632-467E-23E8-FEA9947F2E1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6C3862-959A-A80B-9315-F2B55EBF8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068680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BF162E-0A0C-BC6F-FA67-37A667A9D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328313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322090-889E-3123-4754-997E7A409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544116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4B7A004-B44D-A5EA-CDA8-5174AD0E13B8}"/>
              </a:ext>
            </a:extLst>
          </p:cNvPr>
          <p:cNvSpPr/>
          <p:nvPr/>
        </p:nvSpPr>
        <p:spPr>
          <a:xfrm>
            <a:off x="5979890" y="2177213"/>
            <a:ext cx="438172" cy="20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2B3ABE-4073-8A15-16CB-33532C565359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2020D8-3CCE-7FC7-C914-F4BAF4692810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564BE8-8D5B-A77D-2B43-D8DD5C2061D9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6E3111-CC34-0C9F-5B3B-E2CD4BD3210C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6C00D1-D282-77ED-0A9E-EE8219FAC3B1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FD19F7-C09C-6295-D668-C2698F6AD3F0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47DFE1-1955-C3F5-487B-EC762050D043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EF9587-31C7-84B3-3E41-ECBAA2803C8C}"/>
              </a:ext>
            </a:extLst>
          </p:cNvPr>
          <p:cNvSpPr/>
          <p:nvPr/>
        </p:nvSpPr>
        <p:spPr>
          <a:xfrm>
            <a:off x="3718990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D96D59-67A2-B8F8-61DE-B5285C7C0B42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5B782A-7E29-0F80-FCC7-44100E33D774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1966AB-65CA-682C-CDD4-7AF917D4C2CA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949DD0-7DC1-4151-0E9F-144791CB538B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E61D39-6574-D3AE-B41B-9A86DE3C60CD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488BE4-671E-49A9-B6F5-52B3A9AD0315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DB7018-1C8A-7B82-9694-ADC04E5AE849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3895CE-B09E-C8EA-DFDA-C8E813ECAA08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748DC5-15B2-5B51-2134-0FFA63C75A74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091990-1BF2-7609-B8BC-B943DB8B0546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D6A7387A-1A60-8155-83EC-823220BF0725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B1CB64-3030-CDAA-AC79-2198D66FC025}"/>
              </a:ext>
            </a:extLst>
          </p:cNvPr>
          <p:cNvCxnSpPr>
            <a:stCxn id="7" idx="4"/>
            <a:endCxn id="14" idx="0"/>
          </p:cNvCxnSpPr>
          <p:nvPr/>
        </p:nvCxnSpPr>
        <p:spPr>
          <a:xfrm>
            <a:off x="4018192" y="4401647"/>
            <a:ext cx="5598" cy="37514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1523CC-C410-0949-6CD7-7DCDE2FDB001}"/>
              </a:ext>
            </a:extLst>
          </p:cNvPr>
          <p:cNvCxnSpPr>
            <a:stCxn id="8" idx="5"/>
            <a:endCxn id="14" idx="1"/>
          </p:cNvCxnSpPr>
          <p:nvPr/>
        </p:nvCxnSpPr>
        <p:spPr>
          <a:xfrm>
            <a:off x="1789458" y="3273709"/>
            <a:ext cx="2018806" cy="159235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9">
            <a:extLst>
              <a:ext uri="{FF2B5EF4-FFF2-40B4-BE49-F238E27FC236}">
                <a16:creationId xmlns:a16="http://schemas.microsoft.com/office/drawing/2014/main" id="{0F2E6391-C947-AAA0-99EC-37B874339EB6}"/>
              </a:ext>
            </a:extLst>
          </p:cNvPr>
          <p:cNvCxnSpPr/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22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17FB-013D-CE84-0DBC-06B8972F7C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6C685D-BF3C-66E7-EB18-E7D40EB89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627725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F6ACFE-C26D-C38D-8758-EF52E1B17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46583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712E0F-B95E-DFD9-C82A-B5349352F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180743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BC8F3EB-F2A2-F248-EFE9-745E82E9B66D}"/>
              </a:ext>
            </a:extLst>
          </p:cNvPr>
          <p:cNvSpPr/>
          <p:nvPr/>
        </p:nvSpPr>
        <p:spPr>
          <a:xfrm>
            <a:off x="6791314" y="1835506"/>
            <a:ext cx="438172" cy="20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20341E-C81C-462F-8E0F-69AC9541B698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135465-AA6D-1EEA-8E12-AD90A157BDF8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C658E8-57D1-8118-A18E-815B51397222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39AB7B-3DF0-26DB-E6A4-35DE26543516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2A762D-D28E-628C-E867-2DD15C8FD38A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0935EB-EECC-425B-0D95-884205E70832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329D84-F4AB-AED9-4DDF-967C7DC6014F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ACE5DC-8497-7F34-13A4-6233C1B0CD32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6F362E-9BF2-0B14-EA77-FA06E0BA2D6A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B5059-0825-0A81-467A-3B8688185DC9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CF4276-92C5-240F-BD80-CBADEF84DEEB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F92333-25F7-3F07-9B8E-86FA4B80A4C1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68AB24-CC42-77B3-4109-7968A7C7C8EA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F0F930-77B6-3192-45DD-CA22EACDEDDF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D90E63-D5A6-AB38-946A-A29AB870319B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AA3FAF-0726-2FE5-4344-05DCCBDE709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962178-B40F-1FF1-63E3-86B26F70DD22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12E2B5-70D3-04B2-22C5-EFF751131641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E3DACCC7-27E8-3BDC-D433-40521EED41BF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CF913B-CBDA-992D-2424-6107ADF32649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803FB7-D2E9-4D60-8110-9530059D998F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392AA67C-C6E9-CB87-7EC2-0849B69E4D36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21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C260-153A-3084-B860-31D90342820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D99C86-145C-9E71-1AAD-DBB1AF7AD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457967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BBBA6D-3087-8265-EDE6-A28E27B68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08339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C531A0-DD7B-025E-AD7D-9D010448A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57328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AFF0D37-AFA8-E8BC-99C3-8D1AED88E203}"/>
              </a:ext>
            </a:extLst>
          </p:cNvPr>
          <p:cNvSpPr/>
          <p:nvPr/>
        </p:nvSpPr>
        <p:spPr>
          <a:xfrm>
            <a:off x="6791314" y="2202840"/>
            <a:ext cx="438172" cy="2035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88D0EE-068F-FEC2-D6D9-6CFF8E5148F2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F1FBB5-D037-3D1A-048F-C122D5D37BD5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24ADC4-2038-E62A-84AA-846134D5779D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BFCBBC-4E63-2E4B-55E0-6B9DFCBAAA16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3A9D7E-FFF8-C498-C21C-A8531AACC9FB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9C644E-D296-6767-07A2-9750EC783A37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3183CD-3DE3-2086-9908-4AE3EE21CD09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0F7F70-1298-ED56-2484-1D70D0AED211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7703BA-4735-7CB3-CE73-38BD45370194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336168-6C09-16D3-3056-295B43C077AD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5011AA-799A-E787-6A37-CF539664306E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559675-AAB3-37E5-18DA-E9CA5CB9BAD1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A1B155-1C0D-2E5E-73EE-D89A9957801D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7EE75F-DF13-D838-0F74-3C380D59E8A4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7A3F35-DB05-E192-F61E-83E8A210610D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5DEEA2-05BD-9708-8361-19F79C74505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F171B7-7E1E-531D-F324-D531C9ABDC83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D38CF0-FB86-C2E1-8B3B-63E95431AFAF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48CC86B5-3F9A-5C2D-AF1A-253C46BF1C9B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903175-B1B8-93C2-45F9-DCA7D9A6BE4B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B813C7E-E7E1-B2C8-F4EF-56ECFC62FB04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A387C631-C699-4F41-8687-37C904132EB0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79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12D8-8A9E-C46D-3996-FFE14FD6F2B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CA24B1-9A45-99F0-9ED6-E4A682FCF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900833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AB5084-0BD7-6B10-7BB0-7CAAE31CD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45894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40498A-7F7E-2D00-79F9-96DA80869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548676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B941491-C7C7-F99F-C797-4563B8E592E4}"/>
              </a:ext>
            </a:extLst>
          </p:cNvPr>
          <p:cNvSpPr/>
          <p:nvPr/>
        </p:nvSpPr>
        <p:spPr>
          <a:xfrm>
            <a:off x="7467600" y="1824279"/>
            <a:ext cx="438172" cy="203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4EDB7A-CF27-C485-A338-416B15F965E0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BB9E33-FD51-9FBD-91ED-15F3F4C6C19A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B3FB74-FEC7-F050-1FBB-856C166A493F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37F65B-0228-2EB5-1EA7-4A2CD82A2E2A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A92416-84D9-3D1F-8634-BC6C5105CDF5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E6FD0B-993C-1632-1ACE-921C11F0607F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6649D0-41CC-88B8-425F-48164BD4E7CC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A200D5-D8D1-B00C-8D78-05B07E609885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C31CCE-F6CB-8DFB-08BB-BD529E81BF83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380292-E1B4-7C21-4833-A61CB71FAC59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6F43B8-2CE0-9FCF-3CE3-FE7EE92C743F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F4508B-BDE0-C653-1B19-DB4790E846A6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5553F5-D675-CF2A-6F72-CC20057102F8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3FC198-616E-2175-A65B-BDCA662941BC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B80D24-B744-B9EF-3FC6-E4F003256701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888BA6-59EB-C70E-EF31-F3D7AE7B536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2724B8-542C-F427-9FC9-FA7E70F89A01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A92716-8DFE-7F6A-309E-6DC1860A4242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AEC23DEF-9954-AAF3-272E-27CC85F3792F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F24B6B-8DBA-331B-5F7A-AD7DB5E2A62F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C76666-D7DF-6516-B49F-469B0AE0C318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7384F4C1-347D-B86A-753D-77605E7039E6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6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33B1-8953-50AC-6EDD-63271699B0D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DD3556-564B-3553-29E5-95183C4F5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17586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9DE04F-CC85-4817-CB7D-86D0095A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247896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A7BCFB-2393-83CD-3245-14BDBD77E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3310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E6CC64F-ACDB-9E8F-DD10-39CA4E499C5F}"/>
              </a:ext>
            </a:extLst>
          </p:cNvPr>
          <p:cNvSpPr/>
          <p:nvPr/>
        </p:nvSpPr>
        <p:spPr>
          <a:xfrm>
            <a:off x="7467600" y="2197914"/>
            <a:ext cx="438172" cy="203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EF63BE-FF49-0C80-E470-97AB3B3671E7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82A3FB-163B-C79D-94FE-4C6514927B98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E2DF31-09BB-182B-1F5E-19A61D137C88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A230D8-EDC1-987A-7198-20FBA7C563BD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ECB201-C972-2F11-E9D7-1FD9C3A77555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B05F9F-6386-2121-B551-4F39EF00282E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983FF4-09E2-CCC1-FDE7-EF233D69019F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628D99-A5DE-451A-7D7B-B991FD7DADF0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1D4390-F491-7FB9-84E5-E6899850E252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164E6C-E415-CDB9-8486-315CB4364950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325CD8-16F7-4814-046A-29A0B426758B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6A92B-3A86-0A75-5B84-552E3233829E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1A5FEC-DDAA-4B27-6970-075C02871A7B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C2A248-00F1-3289-7051-0DBE195C60A1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0991C5-217F-B302-B644-F9984A70207B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CB1B34-78EA-3D7B-1710-5FC405579932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7FC0FF-DDE7-CE4A-BB6F-1650C07AC0BB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6C5A16-0647-FB83-9FAE-65EC2E4F9B82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4E5C9FB5-1C0B-AFD8-3CE9-A30D55EABB9D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F031FD-B37B-00C2-205C-358C5F28C41F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8B3B1A-C1D3-24FA-9A8D-C703FFFBAA3C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C1BF69D2-215A-800E-3F1D-816D08D8B3C5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03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2801-3BE7-7068-5A49-47BE4AE7087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F5B214-FED4-90EA-C450-BA3FC577E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881511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3E6F36-EB58-CDA3-C776-46F12E976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65537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7C0580-723A-4F5E-3CBB-19C6CE060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72048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2C928F72-373E-E81A-BA48-AF1EF28BB193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230057-8C8F-1C21-0A6B-64274DE2E72F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4DC2B4-F99A-F9D8-8304-72E42D471A00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CB0609-24ED-12B0-5A06-0CC240E68179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DE0392-5D73-FBAD-9452-A3AD4BC1926A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6CA4B2-7FBA-C533-1ADF-D2D296003F5A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407F09-CCAA-2F63-9854-DAB261AA71BC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FC55A3-3349-DEE3-B9A7-424A46680051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9DB175-F886-71F7-C612-D260E0C07AC0}"/>
              </a:ext>
            </a:extLst>
          </p:cNvPr>
          <p:cNvCxnSpPr>
            <a:stCxn id="7" idx="4"/>
            <a:endCxn id="10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5132BA-CE9C-E040-0682-0DCD3453B224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13F490-0081-6019-88C1-AE3E0DA90BAD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522CB2-B731-DC32-6AC0-CA60090A487D}"/>
              </a:ext>
            </a:extLst>
          </p:cNvPr>
          <p:cNvCxnSpPr>
            <a:stCxn id="10" idx="4"/>
            <a:endCxn id="9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D85A3-6603-36B4-20E2-249CF4345BA8}"/>
              </a:ext>
            </a:extLst>
          </p:cNvPr>
          <p:cNvCxnSpPr>
            <a:stCxn id="11" idx="4"/>
            <a:endCxn id="6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5C103B-D875-3386-6E93-89F92177931B}"/>
              </a:ext>
            </a:extLst>
          </p:cNvPr>
          <p:cNvCxnSpPr>
            <a:stCxn id="11" idx="3"/>
            <a:endCxn id="9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8ACA79-9928-1B29-BBF4-70D7C85ED25F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2E53FD-0DCE-2173-D02C-05BA541B42B5}"/>
              </a:ext>
            </a:extLst>
          </p:cNvPr>
          <p:cNvCxnSpPr>
            <a:stCxn id="6" idx="2"/>
            <a:endCxn id="10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D87F1A-CB36-A284-1559-3BB4FB5F68A0}"/>
              </a:ext>
            </a:extLst>
          </p:cNvPr>
          <p:cNvCxnSpPr>
            <a:stCxn id="12" idx="5"/>
            <a:endCxn id="6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3E6D83-B440-1363-5185-047BE74D14D6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4">
            <a:extLst>
              <a:ext uri="{FF2B5EF4-FFF2-40B4-BE49-F238E27FC236}">
                <a16:creationId xmlns:a16="http://schemas.microsoft.com/office/drawing/2014/main" id="{D1DA5B5C-AFBA-1B24-8C56-BFDA3C7116A3}"/>
              </a:ext>
            </a:extLst>
          </p:cNvPr>
          <p:cNvCxnSpPr>
            <a:stCxn id="12" idx="2"/>
            <a:endCxn id="9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61E462-E18D-D226-8D12-5605A903DCC9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7C7961-0F6E-BE9B-DA6E-295EC05B41D7}"/>
              </a:ext>
            </a:extLst>
          </p:cNvPr>
          <p:cNvCxnSpPr>
            <a:stCxn id="7" idx="5"/>
            <a:endCxn id="13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7">
            <a:extLst>
              <a:ext uri="{FF2B5EF4-FFF2-40B4-BE49-F238E27FC236}">
                <a16:creationId xmlns:a16="http://schemas.microsoft.com/office/drawing/2014/main" id="{9B5B7CF3-6AE4-6350-0FF9-4E8B6E512E98}"/>
              </a:ext>
            </a:extLst>
          </p:cNvPr>
          <p:cNvCxnSpPr>
            <a:stCxn id="8" idx="6"/>
            <a:endCxn id="13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C11187D-A701-68F3-9DCF-3B5501F395BF}"/>
              </a:ext>
            </a:extLst>
          </p:cNvPr>
          <p:cNvSpPr/>
          <p:nvPr/>
        </p:nvSpPr>
        <p:spPr>
          <a:xfrm>
            <a:off x="8208137" y="1824279"/>
            <a:ext cx="438172" cy="2035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2E0846-932C-1267-6707-D3CAA3E4802B}"/>
              </a:ext>
            </a:extLst>
          </p:cNvPr>
          <p:cNvSpPr/>
          <p:nvPr/>
        </p:nvSpPr>
        <p:spPr>
          <a:xfrm>
            <a:off x="8255784" y="2190039"/>
            <a:ext cx="438172" cy="2035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372C7D-40B7-57E1-A5A5-CB9233887DA9}"/>
              </a:ext>
            </a:extLst>
          </p:cNvPr>
          <p:cNvSpPr txBox="1"/>
          <p:nvPr/>
        </p:nvSpPr>
        <p:spPr>
          <a:xfrm>
            <a:off x="4140200" y="5855307"/>
            <a:ext cx="5222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The complexity is reduced to O(2*n). </a:t>
            </a:r>
            <a:endParaRPr lang="en-IN" sz="2400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99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44D961-EF64-5C0F-17F2-D670809C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076"/>
            <a:ext cx="10515600" cy="1011703"/>
          </a:xfrm>
        </p:spPr>
        <p:txBody>
          <a:bodyPr/>
          <a:lstStyle/>
          <a:p>
            <a:r>
              <a:rPr lang="en-IN" dirty="0"/>
              <a:t>Example 2: Operator precedence parsing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598FEA-5DED-97B9-CC02-3C33C3BFF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15" y="1096062"/>
            <a:ext cx="11112248" cy="2056415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Construct Precedence parsing table for the following grammar: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0000"/>
                </a:solidFill>
              </a:rPr>
              <a:t>S--&gt;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a | ^ | 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T--&gt;T,S | S	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	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A2E3DC-724E-6F0E-8F49-6352EBFABCD7}"/>
              </a:ext>
            </a:extLst>
          </p:cNvPr>
          <p:cNvSpPr/>
          <p:nvPr/>
        </p:nvSpPr>
        <p:spPr>
          <a:xfrm>
            <a:off x="246315" y="2888343"/>
            <a:ext cx="6248828" cy="9917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0E47A1"/>
                </a:solidFill>
                <a:latin typeface="Palatino Linotype" panose="02040502050505030304" pitchFamily="18" charset="0"/>
              </a:rPr>
              <a:t>Soln</a:t>
            </a:r>
            <a:r>
              <a:rPr lang="en-US" sz="24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:</a:t>
            </a:r>
          </a:p>
          <a:p>
            <a:r>
              <a:rPr lang="en-US" sz="2400" b="1" dirty="0">
                <a:solidFill>
                  <a:srgbClr val="000099"/>
                </a:solidFill>
                <a:latin typeface="Palatino Linotype" panose="02040502050505030304" pitchFamily="18" charset="0"/>
              </a:rPr>
              <a:t>Step 1: Find Leading &amp; Trailing of NT 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453C120-C393-82BF-9BD9-9B66318C3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372044"/>
              </p:ext>
            </p:extLst>
          </p:nvPr>
        </p:nvGraphicFramePr>
        <p:xfrm>
          <a:off x="574481" y="4656086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 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861F02D-08DB-7F3C-680A-C8C792DAC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092475"/>
              </p:ext>
            </p:extLst>
          </p:nvPr>
        </p:nvGraphicFramePr>
        <p:xfrm>
          <a:off x="574481" y="5026926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{a,^, (}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{a,^,)}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AC145F6-7D3C-BD8A-3465-6DD304E32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451132"/>
              </p:ext>
            </p:extLst>
          </p:nvPr>
        </p:nvGraphicFramePr>
        <p:xfrm>
          <a:off x="574481" y="5391098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{,,a,^, (}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{,,a,^,)}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86334608-8770-9EA6-F65D-DE94539BBE30}"/>
              </a:ext>
            </a:extLst>
          </p:cNvPr>
          <p:cNvSpPr/>
          <p:nvPr/>
        </p:nvSpPr>
        <p:spPr>
          <a:xfrm>
            <a:off x="2664127" y="5493201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81490C-F4B2-24FC-8198-04DDAAC1E4EB}"/>
              </a:ext>
            </a:extLst>
          </p:cNvPr>
          <p:cNvSpPr/>
          <p:nvPr/>
        </p:nvSpPr>
        <p:spPr>
          <a:xfrm>
            <a:off x="2669967" y="5083733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F7BB05-E2DB-9E98-D7E7-BD7190DD9907}"/>
              </a:ext>
            </a:extLst>
          </p:cNvPr>
          <p:cNvSpPr/>
          <p:nvPr/>
        </p:nvSpPr>
        <p:spPr>
          <a:xfrm>
            <a:off x="4279713" y="5439426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F5DF78-E8F9-7F1F-1BD1-7CB50CA51D01}"/>
              </a:ext>
            </a:extLst>
          </p:cNvPr>
          <p:cNvSpPr/>
          <p:nvPr/>
        </p:nvSpPr>
        <p:spPr>
          <a:xfrm>
            <a:off x="4279713" y="5128039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6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 animBg="1"/>
      <p:bldP spid="38" grpId="0" animBg="1"/>
      <p:bldP spid="39" grpId="0" animBg="1"/>
      <p:bldP spid="4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44D961-EF64-5C0F-17F2-D670809C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076"/>
            <a:ext cx="10515600" cy="1011703"/>
          </a:xfrm>
        </p:spPr>
        <p:txBody>
          <a:bodyPr/>
          <a:lstStyle/>
          <a:p>
            <a:r>
              <a:rPr lang="en-IN" dirty="0"/>
              <a:t>Example 2: Operator precedence parsing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598FEA-5DED-97B9-CC02-3C33C3BFF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59" y="965959"/>
            <a:ext cx="2845881" cy="911777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S--&gt;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a | ^ | 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T--&gt;T,S | S		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DF0065-E0CD-6760-98F7-22EE13A7ED6B}"/>
              </a:ext>
            </a:extLst>
          </p:cNvPr>
          <p:cNvSpPr/>
          <p:nvPr/>
        </p:nvSpPr>
        <p:spPr>
          <a:xfrm>
            <a:off x="289745" y="1760566"/>
            <a:ext cx="4825180" cy="370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Step 2(a): Establish Relation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8F5767-4F9D-4E13-76A1-0AA45F59E06B}"/>
              </a:ext>
            </a:extLst>
          </p:cNvPr>
          <p:cNvSpPr/>
          <p:nvPr/>
        </p:nvSpPr>
        <p:spPr>
          <a:xfrm>
            <a:off x="6650129" y="1687236"/>
            <a:ext cx="458699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Step 2(b): Creation of Table 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CC2ACDA-B7A1-FE83-5F10-3D0CC7B735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29" t="17957" r="52061" b="21102"/>
          <a:stretch/>
        </p:blipFill>
        <p:spPr>
          <a:xfrm>
            <a:off x="371791" y="2299678"/>
            <a:ext cx="5107351" cy="417929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E8B178-093C-0A4F-2D12-37CE0AD80DBC}"/>
              </a:ext>
            </a:extLst>
          </p:cNvPr>
          <p:cNvGraphicFramePr>
            <a:graphicFrameLocks noGrp="1"/>
          </p:cNvGraphicFramePr>
          <p:nvPr/>
        </p:nvGraphicFramePr>
        <p:xfrm>
          <a:off x="6211694" y="2389085"/>
          <a:ext cx="4881910" cy="405738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69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2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520">
                  <a:extLst>
                    <a:ext uri="{9D8B030D-6E8A-4147-A177-3AD203B41FA5}">
                      <a16:colId xmlns:a16="http://schemas.microsoft.com/office/drawing/2014/main" val="1974585047"/>
                    </a:ext>
                  </a:extLst>
                </a:gridCol>
                <a:gridCol w="682520">
                  <a:extLst>
                    <a:ext uri="{9D8B030D-6E8A-4147-A177-3AD203B41FA5}">
                      <a16:colId xmlns:a16="http://schemas.microsoft.com/office/drawing/2014/main" val="3091106405"/>
                    </a:ext>
                  </a:extLst>
                </a:gridCol>
              </a:tblGrid>
              <a:tr h="40573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18A585-E938-93F7-62AE-9E67B2132DB3}"/>
              </a:ext>
            </a:extLst>
          </p:cNvPr>
          <p:cNvGraphicFramePr>
            <a:graphicFrameLocks noGrp="1"/>
          </p:cNvGraphicFramePr>
          <p:nvPr/>
        </p:nvGraphicFramePr>
        <p:xfrm>
          <a:off x="6204550" y="2804852"/>
          <a:ext cx="4889695" cy="3353064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62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069">
                  <a:extLst>
                    <a:ext uri="{9D8B030D-6E8A-4147-A177-3AD203B41FA5}">
                      <a16:colId xmlns:a16="http://schemas.microsoft.com/office/drawing/2014/main" val="3067828238"/>
                    </a:ext>
                  </a:extLst>
                </a:gridCol>
                <a:gridCol w="700639">
                  <a:extLst>
                    <a:ext uri="{9D8B030D-6E8A-4147-A177-3AD203B41FA5}">
                      <a16:colId xmlns:a16="http://schemas.microsoft.com/office/drawing/2014/main" val="2475784211"/>
                    </a:ext>
                  </a:extLst>
                </a:gridCol>
              </a:tblGrid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271123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12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7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F2540-78D4-570A-8DAF-25478AF8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57" y="95407"/>
            <a:ext cx="10515600" cy="64262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2: Operator precedence parsing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73E24C3-FF1A-E2F8-ED7E-526F5AA07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31" t="5327" r="51267" b="5035"/>
          <a:stretch/>
        </p:blipFill>
        <p:spPr>
          <a:xfrm>
            <a:off x="6096000" y="738029"/>
            <a:ext cx="5007770" cy="593111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EA3A58-BC6A-1E09-B34F-CEEA1DF8CCAC}"/>
              </a:ext>
            </a:extLst>
          </p:cNvPr>
          <p:cNvSpPr/>
          <p:nvPr/>
        </p:nvSpPr>
        <p:spPr>
          <a:xfrm>
            <a:off x="-192881" y="846377"/>
            <a:ext cx="6486525" cy="349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Step 3: Parse the string using precedence table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0A337B-4EAD-D2BC-ACBB-18B327E6152A}"/>
              </a:ext>
            </a:extLst>
          </p:cNvPr>
          <p:cNvGraphicFramePr>
            <a:graphicFrameLocks noGrp="1"/>
          </p:cNvGraphicFramePr>
          <p:nvPr/>
        </p:nvGraphicFramePr>
        <p:xfrm>
          <a:off x="513856" y="2048047"/>
          <a:ext cx="4881910" cy="405738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69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2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520">
                  <a:extLst>
                    <a:ext uri="{9D8B030D-6E8A-4147-A177-3AD203B41FA5}">
                      <a16:colId xmlns:a16="http://schemas.microsoft.com/office/drawing/2014/main" val="1974585047"/>
                    </a:ext>
                  </a:extLst>
                </a:gridCol>
                <a:gridCol w="682520">
                  <a:extLst>
                    <a:ext uri="{9D8B030D-6E8A-4147-A177-3AD203B41FA5}">
                      <a16:colId xmlns:a16="http://schemas.microsoft.com/office/drawing/2014/main" val="3091106405"/>
                    </a:ext>
                  </a:extLst>
                </a:gridCol>
              </a:tblGrid>
              <a:tr h="40573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C032B0-EA90-3CEF-8F3A-F9EDEA7852F2}"/>
              </a:ext>
            </a:extLst>
          </p:cNvPr>
          <p:cNvGraphicFramePr>
            <a:graphicFrameLocks noGrp="1"/>
          </p:cNvGraphicFramePr>
          <p:nvPr/>
        </p:nvGraphicFramePr>
        <p:xfrm>
          <a:off x="506712" y="2463814"/>
          <a:ext cx="4889695" cy="3353064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62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069">
                  <a:extLst>
                    <a:ext uri="{9D8B030D-6E8A-4147-A177-3AD203B41FA5}">
                      <a16:colId xmlns:a16="http://schemas.microsoft.com/office/drawing/2014/main" val="3067828238"/>
                    </a:ext>
                  </a:extLst>
                </a:gridCol>
                <a:gridCol w="700639">
                  <a:extLst>
                    <a:ext uri="{9D8B030D-6E8A-4147-A177-3AD203B41FA5}">
                      <a16:colId xmlns:a16="http://schemas.microsoft.com/office/drawing/2014/main" val="2475784211"/>
                    </a:ext>
                  </a:extLst>
                </a:gridCol>
              </a:tblGrid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.&gt;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271123"/>
                  </a:ext>
                </a:extLst>
              </a:tr>
              <a:tr h="558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12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79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26755</TotalTime>
  <Words>3305</Words>
  <Application>Microsoft Office PowerPoint</Application>
  <PresentationFormat>Widescreen</PresentationFormat>
  <Paragraphs>994</Paragraphs>
  <Slides>43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Cambria Math</vt:lpstr>
      <vt:lpstr>Palatino Linotype</vt:lpstr>
      <vt:lpstr>Wingdings</vt:lpstr>
      <vt:lpstr>Office Theme</vt:lpstr>
      <vt:lpstr>PowerPoint Presentation</vt:lpstr>
      <vt:lpstr>Reductions</vt:lpstr>
      <vt:lpstr>Bottom-Up Parsing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</vt:lpstr>
      <vt:lpstr>Example 2 - Solution</vt:lpstr>
      <vt:lpstr>Example 3</vt:lpstr>
      <vt:lpstr>Example 3 -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Precedence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2: Operator precedence parsing</vt:lpstr>
      <vt:lpstr>Example 2: Operator precedence parsing</vt:lpstr>
      <vt:lpstr>Example 2: Operator precedence parsing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728</cp:revision>
  <dcterms:created xsi:type="dcterms:W3CDTF">2020-07-30T09:53:05Z</dcterms:created>
  <dcterms:modified xsi:type="dcterms:W3CDTF">2024-08-06T10:36:13Z</dcterms:modified>
</cp:coreProperties>
</file>